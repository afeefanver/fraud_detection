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4"/>
  </p:notesMasterIdLst>
  <p:sldIdLst>
    <p:sldId id="256" r:id="rId2"/>
    <p:sldId id="715" r:id="rId3"/>
    <p:sldId id="714" r:id="rId4"/>
    <p:sldId id="717" r:id="rId5"/>
    <p:sldId id="718" r:id="rId6"/>
    <p:sldId id="721" r:id="rId7"/>
    <p:sldId id="719" r:id="rId8"/>
    <p:sldId id="720" r:id="rId9"/>
    <p:sldId id="716" r:id="rId10"/>
    <p:sldId id="674" r:id="rId11"/>
    <p:sldId id="722" r:id="rId12"/>
    <p:sldId id="713" r:id="rId13"/>
    <p:sldId id="676" r:id="rId14"/>
    <p:sldId id="723" r:id="rId15"/>
    <p:sldId id="724" r:id="rId16"/>
    <p:sldId id="725" r:id="rId17"/>
    <p:sldId id="726" r:id="rId18"/>
    <p:sldId id="727" r:id="rId19"/>
    <p:sldId id="712" r:id="rId20"/>
    <p:sldId id="728" r:id="rId21"/>
    <p:sldId id="711" r:id="rId22"/>
    <p:sldId id="30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1791" autoAdjust="0"/>
  </p:normalViewPr>
  <p:slideViewPr>
    <p:cSldViewPr snapToGrid="0">
      <p:cViewPr varScale="1">
        <p:scale>
          <a:sx n="79" d="100"/>
          <a:sy n="79" d="100"/>
        </p:scale>
        <p:origin x="739" y="82"/>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23-11-2025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13</a:t>
            </a:fld>
            <a:endParaRPr lang="en-IN" dirty="0"/>
          </a:p>
        </p:txBody>
      </p:sp>
    </p:spTree>
    <p:extLst>
      <p:ext uri="{BB962C8B-B14F-4D97-AF65-F5344CB8AC3E}">
        <p14:creationId xmlns:p14="http://schemas.microsoft.com/office/powerpoint/2010/main" val="1797883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14</a:t>
            </a:fld>
            <a:endParaRPr lang="en-IN" dirty="0"/>
          </a:p>
        </p:txBody>
      </p:sp>
    </p:spTree>
    <p:extLst>
      <p:ext uri="{BB962C8B-B14F-4D97-AF65-F5344CB8AC3E}">
        <p14:creationId xmlns:p14="http://schemas.microsoft.com/office/powerpoint/2010/main" val="255963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15</a:t>
            </a:fld>
            <a:endParaRPr lang="en-IN" dirty="0"/>
          </a:p>
        </p:txBody>
      </p:sp>
    </p:spTree>
    <p:extLst>
      <p:ext uri="{BB962C8B-B14F-4D97-AF65-F5344CB8AC3E}">
        <p14:creationId xmlns:p14="http://schemas.microsoft.com/office/powerpoint/2010/main" val="2885861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16</a:t>
            </a:fld>
            <a:endParaRPr lang="en-IN" dirty="0"/>
          </a:p>
        </p:txBody>
      </p:sp>
    </p:spTree>
    <p:extLst>
      <p:ext uri="{BB962C8B-B14F-4D97-AF65-F5344CB8AC3E}">
        <p14:creationId xmlns:p14="http://schemas.microsoft.com/office/powerpoint/2010/main" val="9699944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17</a:t>
            </a:fld>
            <a:endParaRPr lang="en-IN" dirty="0"/>
          </a:p>
        </p:txBody>
      </p:sp>
    </p:spTree>
    <p:extLst>
      <p:ext uri="{BB962C8B-B14F-4D97-AF65-F5344CB8AC3E}">
        <p14:creationId xmlns:p14="http://schemas.microsoft.com/office/powerpoint/2010/main" val="31940283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18</a:t>
            </a:fld>
            <a:endParaRPr lang="en-IN" dirty="0"/>
          </a:p>
        </p:txBody>
      </p:sp>
    </p:spTree>
    <p:extLst>
      <p:ext uri="{BB962C8B-B14F-4D97-AF65-F5344CB8AC3E}">
        <p14:creationId xmlns:p14="http://schemas.microsoft.com/office/powerpoint/2010/main" val="438370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7FFB008-8E38-46F5-BCB9-8CFEF233CF3A}" type="slidenum">
              <a:rPr lang="en-IN" smtClean="0"/>
              <a:t>19</a:t>
            </a:fld>
            <a:endParaRPr lang="en-IN" dirty="0"/>
          </a:p>
        </p:txBody>
      </p:sp>
    </p:spTree>
    <p:extLst>
      <p:ext uri="{BB962C8B-B14F-4D97-AF65-F5344CB8AC3E}">
        <p14:creationId xmlns:p14="http://schemas.microsoft.com/office/powerpoint/2010/main" val="10523908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20</a:t>
            </a:fld>
            <a:endParaRPr lang="en-IN" dirty="0"/>
          </a:p>
        </p:txBody>
      </p:sp>
    </p:spTree>
    <p:extLst>
      <p:ext uri="{BB962C8B-B14F-4D97-AF65-F5344CB8AC3E}">
        <p14:creationId xmlns:p14="http://schemas.microsoft.com/office/powerpoint/2010/main" val="27749254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Fraud Detection in Financial Transactions</a:t>
            </a:r>
            <a:endParaRPr lang="en-US" sz="4400" b="1" dirty="0">
              <a:latin typeface="Calibri" panose="020F0502020204030204" pitchFamily="34" charset="0"/>
            </a:endParaRPr>
          </a:p>
        </p:txBody>
      </p:sp>
      <p:sp>
        <p:nvSpPr>
          <p:cNvPr id="3" name="TextBox 2"/>
          <p:cNvSpPr txBox="1"/>
          <p:nvPr/>
        </p:nvSpPr>
        <p:spPr>
          <a:xfrm>
            <a:off x="7869677" y="5554493"/>
            <a:ext cx="3638146" cy="461665"/>
          </a:xfrm>
          <a:prstGeom prst="rect">
            <a:avLst/>
          </a:prstGeom>
          <a:noFill/>
        </p:spPr>
        <p:txBody>
          <a:bodyPr wrap="square" rtlCol="0">
            <a:spAutoFit/>
          </a:bodyPr>
          <a:lstStyle/>
          <a:p>
            <a:r>
              <a:rPr lang="en-US" sz="2400" dirty="0" smtClean="0">
                <a:solidFill>
                  <a:schemeClr val="bg1">
                    <a:lumMod val="95000"/>
                  </a:schemeClr>
                </a:solidFill>
                <a:latin typeface="Algerian" panose="04020705040A02060702" pitchFamily="82" charset="0"/>
              </a:rPr>
              <a:t>By : Afeef </a:t>
            </a:r>
            <a:r>
              <a:rPr lang="en-US" sz="2400" dirty="0" err="1" smtClean="0">
                <a:solidFill>
                  <a:schemeClr val="bg1">
                    <a:lumMod val="95000"/>
                  </a:schemeClr>
                </a:solidFill>
                <a:latin typeface="Algerian" panose="04020705040A02060702" pitchFamily="82" charset="0"/>
              </a:rPr>
              <a:t>Anver</a:t>
            </a:r>
            <a:r>
              <a:rPr lang="en-US" sz="2400" dirty="0" smtClean="0">
                <a:solidFill>
                  <a:schemeClr val="bg1">
                    <a:lumMod val="95000"/>
                  </a:schemeClr>
                </a:solidFill>
                <a:latin typeface="Algerian" panose="04020705040A02060702" pitchFamily="82" charset="0"/>
              </a:rPr>
              <a:t> </a:t>
            </a:r>
            <a:r>
              <a:rPr lang="en-US" sz="2400" dirty="0" err="1" smtClean="0">
                <a:solidFill>
                  <a:schemeClr val="bg1">
                    <a:lumMod val="95000"/>
                  </a:schemeClr>
                </a:solidFill>
                <a:latin typeface="Algerian" panose="04020705040A02060702" pitchFamily="82" charset="0"/>
              </a:rPr>
              <a:t>Sha</a:t>
            </a:r>
            <a:endParaRPr lang="en-US" sz="2400" dirty="0">
              <a:solidFill>
                <a:schemeClr val="bg1">
                  <a:lumMod val="95000"/>
                </a:schemeClr>
              </a:solidFill>
              <a:latin typeface="Algerian" panose="04020705040A02060702" pitchFamily="82" charset="0"/>
            </a:endParaRPr>
          </a:p>
        </p:txBody>
      </p:sp>
    </p:spTree>
    <p:extLst>
      <p:ext uri="{BB962C8B-B14F-4D97-AF65-F5344CB8AC3E}">
        <p14:creationId xmlns:p14="http://schemas.microsoft.com/office/powerpoint/2010/main" val="10243347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3676605" y="556532"/>
            <a:ext cx="5107239" cy="612775"/>
          </a:xfrm>
        </p:spPr>
        <p:txBody>
          <a:bodyPr/>
          <a:lstStyle/>
          <a:p>
            <a:pPr algn="ctr"/>
            <a:r>
              <a:rPr lang="en-IN" dirty="0" smtClean="0">
                <a:latin typeface="Segoe UI Semibold" panose="020B0702040204020203" pitchFamily="34" charset="0"/>
                <a:cs typeface="Segoe UI Semibold" panose="020B0702040204020203" pitchFamily="34" charset="0"/>
              </a:rPr>
              <a:t>TABLE OF </a:t>
            </a:r>
            <a:r>
              <a:rPr lang="en-IN" dirty="0" smtClean="0">
                <a:solidFill>
                  <a:schemeClr val="bg1">
                    <a:lumMod val="95000"/>
                  </a:schemeClr>
                </a:solidFill>
                <a:latin typeface="Segoe UI Semibold" panose="020B0702040204020203" pitchFamily="34" charset="0"/>
                <a:cs typeface="Segoe UI Semibold" panose="020B0702040204020203" pitchFamily="34" charset="0"/>
              </a:rPr>
              <a:t>CONTENTS</a:t>
            </a:r>
            <a:endParaRPr lang="en-IN" dirty="0">
              <a:solidFill>
                <a:schemeClr val="bg1">
                  <a:lumMod val="95000"/>
                </a:schemeClr>
              </a:solidFill>
              <a:latin typeface="Segoe UI Semibold" panose="020B0702040204020203" pitchFamily="34" charset="0"/>
              <a:cs typeface="Segoe UI Semibold" panose="020B0702040204020203" pitchFamily="34" charset="0"/>
            </a:endParaRPr>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p:txBody>
          <a:bodyPr/>
          <a:lstStyle/>
          <a:p>
            <a:r>
              <a:rPr lang="en-IN" dirty="0" smtClean="0">
                <a:latin typeface="Bahnschrift" panose="020B0502040204020203" pitchFamily="34" charset="0"/>
                <a:ea typeface="Roboto" panose="02000000000000000000" pitchFamily="2" charset="0"/>
                <a:cs typeface="Roboto" panose="02000000000000000000" pitchFamily="2" charset="0"/>
              </a:rPr>
              <a:t>Project Overview</a:t>
            </a:r>
          </a:p>
          <a:p>
            <a:r>
              <a:rPr lang="en-IN" dirty="0" smtClean="0">
                <a:latin typeface="Bahnschrift" panose="020B0502040204020203" pitchFamily="34" charset="0"/>
                <a:ea typeface="Roboto" panose="02000000000000000000" pitchFamily="2" charset="0"/>
                <a:cs typeface="Roboto" panose="02000000000000000000" pitchFamily="2" charset="0"/>
              </a:rPr>
              <a:t>Dataset Description</a:t>
            </a:r>
          </a:p>
          <a:p>
            <a:r>
              <a:rPr lang="en-US" dirty="0">
                <a:latin typeface="Bahnschrift" panose="020B0502040204020203" pitchFamily="34" charset="0"/>
              </a:rPr>
              <a:t>Fraud Data </a:t>
            </a:r>
            <a:r>
              <a:rPr lang="en-US" dirty="0" smtClean="0">
                <a:latin typeface="Bahnschrift" panose="020B0502040204020203" pitchFamily="34" charset="0"/>
              </a:rPr>
              <a:t>Characteristics</a:t>
            </a:r>
          </a:p>
          <a:p>
            <a:r>
              <a:rPr lang="en-US" dirty="0">
                <a:latin typeface="Bahnschrift" panose="020B0502040204020203" pitchFamily="34" charset="0"/>
              </a:rPr>
              <a:t>Exploratory Data Analysis (EDA)</a:t>
            </a:r>
            <a:endParaRPr lang="en-US" dirty="0" smtClean="0">
              <a:latin typeface="Bahnschrift" panose="020B0502040204020203" pitchFamily="34" charset="0"/>
            </a:endParaRPr>
          </a:p>
          <a:p>
            <a:r>
              <a:rPr lang="en-IN" dirty="0" err="1" smtClean="0">
                <a:latin typeface="Bahnschrift" panose="020B0502040204020203" pitchFamily="34" charset="0"/>
                <a:ea typeface="Roboto" panose="02000000000000000000" pitchFamily="2" charset="0"/>
                <a:cs typeface="Roboto" panose="02000000000000000000" pitchFamily="2" charset="0"/>
              </a:rPr>
              <a:t>PreProcessing</a:t>
            </a:r>
            <a:r>
              <a:rPr lang="en-IN" dirty="0" smtClean="0">
                <a:latin typeface="Bahnschrift" panose="020B0502040204020203" pitchFamily="34" charset="0"/>
                <a:ea typeface="Roboto" panose="02000000000000000000" pitchFamily="2" charset="0"/>
                <a:cs typeface="Roboto" panose="02000000000000000000" pitchFamily="2" charset="0"/>
              </a:rPr>
              <a:t> Steps</a:t>
            </a:r>
          </a:p>
          <a:p>
            <a:r>
              <a:rPr lang="en-IN" dirty="0" smtClean="0">
                <a:latin typeface="Bahnschrift" panose="020B0502040204020203" pitchFamily="34" charset="0"/>
                <a:ea typeface="Roboto" panose="02000000000000000000" pitchFamily="2" charset="0"/>
                <a:cs typeface="Roboto" panose="02000000000000000000" pitchFamily="2" charset="0"/>
              </a:rPr>
              <a:t>Feature Engineering Summary</a:t>
            </a:r>
          </a:p>
          <a:p>
            <a:endParaRPr lang="en-IN" dirty="0" smtClean="0">
              <a:latin typeface="Bahnschrift" panose="020B0502040204020203" pitchFamily="34" charset="0"/>
              <a:ea typeface="Roboto" panose="02000000000000000000" pitchFamily="2" charset="0"/>
              <a:cs typeface="Roboto" panose="02000000000000000000" pitchFamily="2" charset="0"/>
            </a:endParaRPr>
          </a:p>
          <a:p>
            <a:endParaRPr lang="en-IN" dirty="0">
              <a:latin typeface="Bahnschrift" panose="020B0502040204020203" pitchFamily="34" charset="0"/>
              <a:ea typeface="Roboto" panose="02000000000000000000" pitchFamily="2" charset="0"/>
              <a:cs typeface="Roboto" panose="02000000000000000000" pitchFamily="2" charset="0"/>
            </a:endParaRPr>
          </a:p>
        </p:txBody>
      </p:sp>
      <p:sp>
        <p:nvSpPr>
          <p:cNvPr id="6" name="Content Placeholder 4">
            <a:extLst>
              <a:ext uri="{FF2B5EF4-FFF2-40B4-BE49-F238E27FC236}">
                <a16:creationId xmlns:a16="http://schemas.microsoft.com/office/drawing/2014/main" id="{911E276C-DF85-3591-E888-F5B1B9B1522C}"/>
              </a:ext>
            </a:extLst>
          </p:cNvPr>
          <p:cNvSpPr txBox="1">
            <a:spLocks/>
          </p:cNvSpPr>
          <p:nvPr/>
        </p:nvSpPr>
        <p:spPr>
          <a:xfrm>
            <a:off x="6405230" y="1659836"/>
            <a:ext cx="5107239" cy="43980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solidFill>
                  <a:schemeClr val="bg1">
                    <a:lumMod val="95000"/>
                  </a:schemeClr>
                </a:solidFill>
                <a:latin typeface="Bahnschrift" panose="020B0502040204020203" pitchFamily="34" charset="0"/>
                <a:ea typeface="Roboto" panose="02000000000000000000" pitchFamily="2" charset="0"/>
                <a:cs typeface="Roboto" panose="02000000000000000000" pitchFamily="2" charset="0"/>
              </a:rPr>
              <a:t>Models Evaluated</a:t>
            </a:r>
          </a:p>
          <a:p>
            <a:r>
              <a:rPr lang="en-IN" dirty="0" smtClean="0">
                <a:solidFill>
                  <a:schemeClr val="bg1">
                    <a:lumMod val="95000"/>
                  </a:schemeClr>
                </a:solidFill>
                <a:latin typeface="Bahnschrift" panose="020B0502040204020203" pitchFamily="34" charset="0"/>
                <a:ea typeface="Roboto" panose="02000000000000000000" pitchFamily="2" charset="0"/>
                <a:cs typeface="Roboto" panose="02000000000000000000" pitchFamily="2" charset="0"/>
              </a:rPr>
              <a:t>Best Model</a:t>
            </a:r>
          </a:p>
          <a:p>
            <a:r>
              <a:rPr lang="en-US" dirty="0" smtClean="0">
                <a:solidFill>
                  <a:schemeClr val="bg1">
                    <a:lumMod val="95000"/>
                  </a:schemeClr>
                </a:solidFill>
                <a:latin typeface="Bahnschrift" panose="020B0502040204020203" pitchFamily="34" charset="0"/>
              </a:rPr>
              <a:t>Model Performance Metrics</a:t>
            </a:r>
          </a:p>
          <a:p>
            <a:r>
              <a:rPr lang="en-IN" dirty="0" smtClean="0">
                <a:solidFill>
                  <a:schemeClr val="bg1">
                    <a:lumMod val="95000"/>
                  </a:schemeClr>
                </a:solidFill>
                <a:latin typeface="Bahnschrift" panose="020B0502040204020203" pitchFamily="34" charset="0"/>
                <a:ea typeface="Roboto" panose="02000000000000000000" pitchFamily="2" charset="0"/>
                <a:cs typeface="Roboto" panose="02000000000000000000" pitchFamily="2" charset="0"/>
              </a:rPr>
              <a:t>Deployment Overview</a:t>
            </a:r>
          </a:p>
          <a:p>
            <a:r>
              <a:rPr lang="en-IN" dirty="0" err="1" smtClean="0">
                <a:solidFill>
                  <a:schemeClr val="bg1">
                    <a:lumMod val="95000"/>
                  </a:schemeClr>
                </a:solidFill>
                <a:latin typeface="Bahnschrift" panose="020B0502040204020203" pitchFamily="34" charset="0"/>
                <a:ea typeface="Roboto" panose="02000000000000000000" pitchFamily="2" charset="0"/>
                <a:cs typeface="Roboto" panose="02000000000000000000" pitchFamily="2" charset="0"/>
              </a:rPr>
              <a:t>Streamlit</a:t>
            </a:r>
            <a:r>
              <a:rPr lang="en-IN" dirty="0" smtClean="0">
                <a:solidFill>
                  <a:schemeClr val="bg1">
                    <a:lumMod val="95000"/>
                  </a:schemeClr>
                </a:solidFill>
                <a:latin typeface="Bahnschrift" panose="020B0502040204020203" pitchFamily="34" charset="0"/>
                <a:ea typeface="Roboto" panose="02000000000000000000" pitchFamily="2" charset="0"/>
                <a:cs typeface="Roboto" panose="02000000000000000000" pitchFamily="2" charset="0"/>
              </a:rPr>
              <a:t> App Workflow</a:t>
            </a:r>
          </a:p>
          <a:p>
            <a:r>
              <a:rPr lang="en-IN" dirty="0" smtClean="0">
                <a:solidFill>
                  <a:schemeClr val="bg1">
                    <a:lumMod val="95000"/>
                  </a:schemeClr>
                </a:solidFill>
                <a:latin typeface="Bahnschrift" panose="020B0502040204020203" pitchFamily="34" charset="0"/>
                <a:ea typeface="Roboto" panose="02000000000000000000" pitchFamily="2" charset="0"/>
                <a:cs typeface="Roboto" panose="02000000000000000000" pitchFamily="2" charset="0"/>
              </a:rPr>
              <a:t>System Architecture</a:t>
            </a:r>
          </a:p>
          <a:p>
            <a:r>
              <a:rPr lang="en-IN" dirty="0" err="1" smtClean="0">
                <a:solidFill>
                  <a:schemeClr val="bg1">
                    <a:lumMod val="95000"/>
                  </a:schemeClr>
                </a:solidFill>
                <a:latin typeface="Bahnschrift" panose="020B0502040204020203" pitchFamily="34" charset="0"/>
                <a:ea typeface="Roboto" panose="02000000000000000000" pitchFamily="2" charset="0"/>
                <a:cs typeface="Roboto" panose="02000000000000000000" pitchFamily="2" charset="0"/>
              </a:rPr>
              <a:t>Buisness</a:t>
            </a:r>
            <a:r>
              <a:rPr lang="en-IN" dirty="0" smtClean="0">
                <a:solidFill>
                  <a:schemeClr val="bg1">
                    <a:lumMod val="95000"/>
                  </a:schemeClr>
                </a:solidFill>
                <a:latin typeface="Bahnschrift" panose="020B0502040204020203" pitchFamily="34" charset="0"/>
                <a:ea typeface="Roboto" panose="02000000000000000000" pitchFamily="2" charset="0"/>
                <a:cs typeface="Roboto" panose="02000000000000000000" pitchFamily="2" charset="0"/>
              </a:rPr>
              <a:t> Impacts</a:t>
            </a:r>
          </a:p>
          <a:p>
            <a:endParaRPr lang="en-IN" dirty="0">
              <a:solidFill>
                <a:schemeClr val="bg1">
                  <a:lumMod val="95000"/>
                </a:schemeClr>
              </a:solidFill>
              <a:latin typeface="Bahnschrift" panose="020B0502040204020203" pitchFamily="34"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1164210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normAutofit/>
          </a:bodyPr>
          <a:lstStyle/>
          <a:p>
            <a:r>
              <a:rPr lang="en-US" dirty="0" smtClean="0">
                <a:latin typeface="Imprint MT Shadow" panose="04020605060303030202" pitchFamily="82" charset="0"/>
              </a:rPr>
              <a:t>Project Overview</a:t>
            </a:r>
            <a:endParaRPr lang="en-IN" dirty="0">
              <a:latin typeface="Imprint MT Shadow" panose="04020605060303030202" pitchFamily="82" charset="0"/>
            </a:endParaRP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4" y="1414020"/>
            <a:ext cx="10834234" cy="4640267"/>
          </a:xfrm>
        </p:spPr>
        <p:txBody>
          <a:bodyPr anchor="ctr">
            <a:normAutofit fontScale="70000" lnSpcReduction="20000"/>
          </a:bodyPr>
          <a:lstStyle/>
          <a:p>
            <a:r>
              <a:rPr lang="en-US" dirty="0">
                <a:latin typeface="Times New Roman" panose="02020603050405020304" pitchFamily="18" charset="0"/>
                <a:cs typeface="Times New Roman" panose="02020603050405020304" pitchFamily="18" charset="0"/>
              </a:rPr>
              <a:t>Digital financial fraud is rapidly increasing</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This project aims to enhance the accuracy of detecting fraud in mobile financial transactions. By leveraging machine learning, the project seeks to predict fraudulent transactions with high precision</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goal is to develop a robust machine learning model to accurately identify fraudulent transactions in real-time , enabling the company to improve security, reduce financial losses, and gain insights into factors contributing to transaction fraud.</a:t>
            </a:r>
          </a:p>
          <a:p>
            <a:pPr marL="0" lvl="0" indent="0" eaLnBrk="0" fontAlgn="base" hangingPunct="0">
              <a:lnSpc>
                <a:spcPct val="100000"/>
              </a:lnSpc>
              <a:spcBef>
                <a:spcPct val="0"/>
              </a:spcBef>
              <a:spcAft>
                <a:spcPct val="0"/>
              </a:spcAft>
              <a:buNone/>
            </a:pPr>
            <a:endParaRPr lang="en-US" altLang="en-US" dirty="0" smtClean="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altLang="en-US" dirty="0" smtClean="0">
                <a:solidFill>
                  <a:schemeClr val="tx1"/>
                </a:solidFill>
                <a:latin typeface="Times New Roman" panose="02020603050405020304" pitchFamily="18" charset="0"/>
                <a:cs typeface="Times New Roman" panose="02020603050405020304" pitchFamily="18" charset="0"/>
              </a:rPr>
              <a:t>End-to-end </a:t>
            </a:r>
            <a:r>
              <a:rPr lang="en-US" altLang="en-US" dirty="0">
                <a:solidFill>
                  <a:schemeClr val="tx1"/>
                </a:solidFill>
                <a:latin typeface="Times New Roman" panose="02020603050405020304" pitchFamily="18" charset="0"/>
                <a:cs typeface="Times New Roman" panose="02020603050405020304" pitchFamily="18" charset="0"/>
              </a:rPr>
              <a:t>workflow:</a:t>
            </a:r>
            <a:br>
              <a:rPr lang="en-US" altLang="en-US" dirty="0">
                <a:solidFill>
                  <a:schemeClr val="tx1"/>
                </a:solidFill>
                <a:latin typeface="Times New Roman" panose="02020603050405020304" pitchFamily="18" charset="0"/>
                <a:cs typeface="Times New Roman" panose="02020603050405020304" pitchFamily="18" charset="0"/>
              </a:rPr>
            </a:br>
            <a:r>
              <a:rPr lang="en-US" altLang="en-US" b="1" dirty="0">
                <a:solidFill>
                  <a:schemeClr val="tx1"/>
                </a:solidFill>
                <a:latin typeface="Times New Roman" panose="02020603050405020304" pitchFamily="18" charset="0"/>
                <a:cs typeface="Times New Roman" panose="02020603050405020304" pitchFamily="18" charset="0"/>
              </a:rPr>
              <a:t>EDA → Preprocessing → Feature Engineering → ML Models → Evaluation → Deployment</a:t>
            </a: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endParaRPr lang="en-US" altLang="en-US" dirty="0" smtClean="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altLang="en-US" dirty="0" smtClean="0">
                <a:solidFill>
                  <a:schemeClr val="tx1"/>
                </a:solidFill>
                <a:latin typeface="Times New Roman" panose="02020603050405020304" pitchFamily="18" charset="0"/>
                <a:cs typeface="Times New Roman" panose="02020603050405020304" pitchFamily="18" charset="0"/>
              </a:rPr>
              <a:t>Real-world </a:t>
            </a:r>
            <a:r>
              <a:rPr lang="en-US" altLang="en-US" dirty="0">
                <a:solidFill>
                  <a:schemeClr val="tx1"/>
                </a:solidFill>
                <a:latin typeface="Times New Roman" panose="02020603050405020304" pitchFamily="18" charset="0"/>
                <a:cs typeface="Times New Roman" panose="02020603050405020304" pitchFamily="18" charset="0"/>
              </a:rPr>
              <a:t>applications:</a:t>
            </a:r>
          </a:p>
          <a:p>
            <a:pPr marL="514350" lvl="0" indent="-514350" eaLnBrk="0" fontAlgn="base" hangingPunct="0">
              <a:lnSpc>
                <a:spcPct val="100000"/>
              </a:lnSpc>
              <a:spcBef>
                <a:spcPct val="0"/>
              </a:spcBef>
              <a:spcAft>
                <a:spcPct val="0"/>
              </a:spcAft>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Banking</a:t>
            </a:r>
          </a:p>
          <a:p>
            <a:pPr marL="514350" lvl="0" indent="-514350" eaLnBrk="0" fontAlgn="base" hangingPunct="0">
              <a:lnSpc>
                <a:spcPct val="100000"/>
              </a:lnSpc>
              <a:spcBef>
                <a:spcPct val="0"/>
              </a:spcBef>
              <a:spcAft>
                <a:spcPct val="0"/>
              </a:spcAft>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E-commerce</a:t>
            </a:r>
          </a:p>
          <a:p>
            <a:pPr marL="514350" lvl="0" indent="-514350" eaLnBrk="0" fontAlgn="base" hangingPunct="0">
              <a:lnSpc>
                <a:spcPct val="100000"/>
              </a:lnSpc>
              <a:spcBef>
                <a:spcPct val="0"/>
              </a:spcBef>
              <a:spcAft>
                <a:spcPct val="0"/>
              </a:spcAft>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Mobile money transfers</a:t>
            </a:r>
          </a:p>
          <a:p>
            <a:pPr marL="514350" lvl="0" indent="-514350" eaLnBrk="0" fontAlgn="base" hangingPunct="0">
              <a:lnSpc>
                <a:spcPct val="100000"/>
              </a:lnSpc>
              <a:spcBef>
                <a:spcPct val="0"/>
              </a:spcBef>
              <a:spcAft>
                <a:spcPct val="0"/>
              </a:spcAft>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Fintech security </a:t>
            </a:r>
            <a:r>
              <a:rPr lang="en-US" altLang="en-US" dirty="0" smtClean="0">
                <a:solidFill>
                  <a:schemeClr val="tx1"/>
                </a:solidFill>
                <a:latin typeface="Times New Roman" panose="02020603050405020304" pitchFamily="18" charset="0"/>
                <a:cs typeface="Times New Roman" panose="02020603050405020304" pitchFamily="18" charset="0"/>
              </a:rPr>
              <a:t>systems</a:t>
            </a:r>
            <a:endParaRPr lang="en-US" alt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38045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normAutofit/>
          </a:bodyPr>
          <a:lstStyle/>
          <a:p>
            <a:r>
              <a:rPr lang="en-US" dirty="0" smtClean="0">
                <a:latin typeface="Imprint MT Shadow" panose="04020605060303030202" pitchFamily="82" charset="0"/>
              </a:rPr>
              <a:t>Dataset </a:t>
            </a:r>
            <a:r>
              <a:rPr lang="en-US" dirty="0">
                <a:latin typeface="Imprint MT Shadow" panose="04020605060303030202" pitchFamily="82" charset="0"/>
              </a:rPr>
              <a:t>Description</a:t>
            </a:r>
            <a:endParaRPr lang="en-IN" dirty="0">
              <a:latin typeface="Imprint MT Shadow" panose="04020605060303030202" pitchFamily="82" charset="0"/>
            </a:endParaRP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4" y="1414020"/>
            <a:ext cx="10834234" cy="4640267"/>
          </a:xfrm>
        </p:spPr>
        <p:txBody>
          <a:bodyPr anchor="ctr">
            <a:normAutofit fontScale="77500" lnSpcReduction="20000"/>
          </a:bodyPr>
          <a:lstStyle/>
          <a:p>
            <a:pPr marL="0" indent="0">
              <a:buNone/>
            </a:pPr>
            <a:r>
              <a:rPr lang="en-US" b="1" dirty="0">
                <a:latin typeface="Times New Roman" panose="02020603050405020304" pitchFamily="18" charset="0"/>
                <a:cs typeface="Times New Roman" panose="02020603050405020304" pitchFamily="18" charset="0"/>
              </a:rPr>
              <a:t>Columns in dataset:</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step</a:t>
            </a:r>
            <a:r>
              <a:rPr lang="en-US" dirty="0">
                <a:latin typeface="Times New Roman" panose="02020603050405020304" pitchFamily="18" charset="0"/>
                <a:cs typeface="Times New Roman" panose="02020603050405020304" pitchFamily="18" charset="0"/>
              </a:rPr>
              <a:t> — hour of the simulation (1 step = 1 hour)</a:t>
            </a:r>
          </a:p>
          <a:p>
            <a:r>
              <a:rPr lang="en-US" b="1" dirty="0">
                <a:latin typeface="Times New Roman" panose="02020603050405020304" pitchFamily="18" charset="0"/>
                <a:cs typeface="Times New Roman" panose="02020603050405020304" pitchFamily="18" charset="0"/>
              </a:rPr>
              <a:t>type</a:t>
            </a:r>
            <a:r>
              <a:rPr lang="en-US" dirty="0">
                <a:latin typeface="Times New Roman" panose="02020603050405020304" pitchFamily="18" charset="0"/>
                <a:cs typeface="Times New Roman" panose="02020603050405020304" pitchFamily="18" charset="0"/>
              </a:rPr>
              <a:t> — CASH-IN, CASH-OUT, DEBIT, PAYMENT, TRANSFER</a:t>
            </a:r>
          </a:p>
          <a:p>
            <a:r>
              <a:rPr lang="en-US" b="1" dirty="0">
                <a:latin typeface="Times New Roman" panose="02020603050405020304" pitchFamily="18" charset="0"/>
                <a:cs typeface="Times New Roman" panose="02020603050405020304" pitchFamily="18" charset="0"/>
              </a:rPr>
              <a:t>amount</a:t>
            </a:r>
            <a:r>
              <a:rPr lang="en-US" dirty="0">
                <a:latin typeface="Times New Roman" panose="02020603050405020304" pitchFamily="18" charset="0"/>
                <a:cs typeface="Times New Roman" panose="02020603050405020304" pitchFamily="18" charset="0"/>
              </a:rPr>
              <a:t> — transaction amount</a:t>
            </a:r>
          </a:p>
          <a:p>
            <a:r>
              <a:rPr lang="en-US" b="1" dirty="0" err="1">
                <a:latin typeface="Times New Roman" panose="02020603050405020304" pitchFamily="18" charset="0"/>
                <a:cs typeface="Times New Roman" panose="02020603050405020304" pitchFamily="18" charset="0"/>
              </a:rPr>
              <a:t>nameOrig</a:t>
            </a:r>
            <a:r>
              <a:rPr lang="en-US" dirty="0">
                <a:latin typeface="Times New Roman" panose="02020603050405020304" pitchFamily="18" charset="0"/>
                <a:cs typeface="Times New Roman" panose="02020603050405020304" pitchFamily="18" charset="0"/>
              </a:rPr>
              <a:t> — sender</a:t>
            </a:r>
          </a:p>
          <a:p>
            <a:r>
              <a:rPr lang="en-US" b="1" dirty="0" err="1">
                <a:latin typeface="Times New Roman" panose="02020603050405020304" pitchFamily="18" charset="0"/>
                <a:cs typeface="Times New Roman" panose="02020603050405020304" pitchFamily="18" charset="0"/>
              </a:rPr>
              <a:t>oldbalanceOrg</a:t>
            </a:r>
            <a:r>
              <a:rPr lang="en-US" b="1" dirty="0">
                <a:latin typeface="Times New Roman" panose="02020603050405020304" pitchFamily="18" charset="0"/>
                <a:cs typeface="Times New Roman" panose="02020603050405020304" pitchFamily="18" charset="0"/>
              </a:rPr>
              <a:t> / </a:t>
            </a:r>
            <a:r>
              <a:rPr lang="en-US" b="1" dirty="0" err="1">
                <a:latin typeface="Times New Roman" panose="02020603050405020304" pitchFamily="18" charset="0"/>
                <a:cs typeface="Times New Roman" panose="02020603050405020304" pitchFamily="18" charset="0"/>
              </a:rPr>
              <a:t>newbalanceOrg</a:t>
            </a:r>
            <a:r>
              <a:rPr lang="en-US" dirty="0">
                <a:latin typeface="Times New Roman" panose="02020603050405020304" pitchFamily="18" charset="0"/>
                <a:cs typeface="Times New Roman" panose="02020603050405020304" pitchFamily="18" charset="0"/>
              </a:rPr>
              <a:t> — sender balance before &amp; after</a:t>
            </a:r>
          </a:p>
          <a:p>
            <a:r>
              <a:rPr lang="en-US" b="1" dirty="0" err="1">
                <a:latin typeface="Times New Roman" panose="02020603050405020304" pitchFamily="18" charset="0"/>
                <a:cs typeface="Times New Roman" panose="02020603050405020304" pitchFamily="18" charset="0"/>
              </a:rPr>
              <a:t>nameDest</a:t>
            </a:r>
            <a:r>
              <a:rPr lang="en-US" dirty="0">
                <a:latin typeface="Times New Roman" panose="02020603050405020304" pitchFamily="18" charset="0"/>
                <a:cs typeface="Times New Roman" panose="02020603050405020304" pitchFamily="18" charset="0"/>
              </a:rPr>
              <a:t> — receiver</a:t>
            </a:r>
          </a:p>
          <a:p>
            <a:r>
              <a:rPr lang="en-US" b="1" dirty="0" err="1">
                <a:latin typeface="Times New Roman" panose="02020603050405020304" pitchFamily="18" charset="0"/>
                <a:cs typeface="Times New Roman" panose="02020603050405020304" pitchFamily="18" charset="0"/>
              </a:rPr>
              <a:t>oldbalanceDest</a:t>
            </a:r>
            <a:r>
              <a:rPr lang="en-US" b="1" dirty="0">
                <a:latin typeface="Times New Roman" panose="02020603050405020304" pitchFamily="18" charset="0"/>
                <a:cs typeface="Times New Roman" panose="02020603050405020304" pitchFamily="18" charset="0"/>
              </a:rPr>
              <a:t> / </a:t>
            </a:r>
            <a:r>
              <a:rPr lang="en-US" b="1" dirty="0" err="1">
                <a:latin typeface="Times New Roman" panose="02020603050405020304" pitchFamily="18" charset="0"/>
                <a:cs typeface="Times New Roman" panose="02020603050405020304" pitchFamily="18" charset="0"/>
              </a:rPr>
              <a:t>newbalanceDest</a:t>
            </a:r>
            <a:r>
              <a:rPr lang="en-US" dirty="0">
                <a:latin typeface="Times New Roman" panose="02020603050405020304" pitchFamily="18" charset="0"/>
                <a:cs typeface="Times New Roman" panose="02020603050405020304" pitchFamily="18" charset="0"/>
              </a:rPr>
              <a:t> — receiver balance</a:t>
            </a:r>
          </a:p>
          <a:p>
            <a:r>
              <a:rPr lang="en-US" b="1" dirty="0" err="1">
                <a:latin typeface="Times New Roman" panose="02020603050405020304" pitchFamily="18" charset="0"/>
                <a:cs typeface="Times New Roman" panose="02020603050405020304" pitchFamily="18" charset="0"/>
              </a:rPr>
              <a:t>isFraud</a:t>
            </a:r>
            <a:r>
              <a:rPr lang="en-US" dirty="0">
                <a:latin typeface="Times New Roman" panose="02020603050405020304" pitchFamily="18" charset="0"/>
                <a:cs typeface="Times New Roman" panose="02020603050405020304" pitchFamily="18" charset="0"/>
              </a:rPr>
              <a:t> — 1 = fraud, 0 = </a:t>
            </a:r>
            <a:r>
              <a:rPr lang="en-US" dirty="0" smtClean="0">
                <a:latin typeface="Times New Roman" panose="02020603050405020304" pitchFamily="18" charset="0"/>
                <a:cs typeface="Times New Roman" panose="02020603050405020304" pitchFamily="18" charset="0"/>
              </a:rPr>
              <a:t>genuine</a:t>
            </a:r>
          </a:p>
          <a:p>
            <a:endParaRPr lang="en-US" dirty="0">
              <a:latin typeface="Times New Roman" panose="02020603050405020304" pitchFamily="18" charset="0"/>
              <a:cs typeface="Times New Roman" panose="02020603050405020304" pitchFamily="18" charset="0"/>
            </a:endParaRPr>
          </a:p>
          <a:p>
            <a:pPr marL="0" indent="0">
              <a:buNone/>
            </a:pPr>
            <a:endParaRPr lang="en-US" sz="1200"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Important Insight: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Fraud </a:t>
            </a:r>
            <a:r>
              <a:rPr lang="en-US" dirty="0">
                <a:latin typeface="Times New Roman" panose="02020603050405020304" pitchFamily="18" charset="0"/>
                <a:cs typeface="Times New Roman" panose="02020603050405020304" pitchFamily="18" charset="0"/>
              </a:rPr>
              <a:t>occurs </a:t>
            </a:r>
            <a:r>
              <a:rPr lang="en-US" b="1" dirty="0">
                <a:latin typeface="Times New Roman" panose="02020603050405020304" pitchFamily="18" charset="0"/>
                <a:cs typeface="Times New Roman" panose="02020603050405020304" pitchFamily="18" charset="0"/>
              </a:rPr>
              <a:t>only</a:t>
            </a:r>
            <a:r>
              <a:rPr lang="en-US" dirty="0">
                <a:latin typeface="Times New Roman" panose="02020603050405020304" pitchFamily="18" charset="0"/>
                <a:cs typeface="Times New Roman" panose="02020603050405020304" pitchFamily="18" charset="0"/>
              </a:rPr>
              <a:t> in </a:t>
            </a:r>
            <a:r>
              <a:rPr lang="en-US" b="1" dirty="0">
                <a:latin typeface="Times New Roman" panose="02020603050405020304" pitchFamily="18" charset="0"/>
                <a:cs typeface="Times New Roman" panose="02020603050405020304" pitchFamily="18" charset="0"/>
              </a:rPr>
              <a:t>TRANSFER</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CASH_OUT</a:t>
            </a:r>
            <a:r>
              <a:rPr lang="en-US" dirty="0">
                <a:latin typeface="Times New Roman" panose="02020603050405020304" pitchFamily="18" charset="0"/>
                <a:cs typeface="Times New Roman" panose="02020603050405020304" pitchFamily="18" charset="0"/>
              </a:rPr>
              <a:t> transactions.</a:t>
            </a:r>
          </a:p>
        </p:txBody>
      </p:sp>
    </p:spTree>
    <p:extLst>
      <p:ext uri="{BB962C8B-B14F-4D97-AF65-F5344CB8AC3E}">
        <p14:creationId xmlns:p14="http://schemas.microsoft.com/office/powerpoint/2010/main" val="28090189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82211" y="1414020"/>
            <a:ext cx="3328833" cy="33230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normAutofit/>
          </a:bodyPr>
          <a:lstStyle/>
          <a:p>
            <a:r>
              <a:rPr lang="en-US" dirty="0">
                <a:latin typeface="Imprint MT Shadow" panose="04020605060303030202" pitchFamily="82" charset="0"/>
              </a:rPr>
              <a:t>Fraud Data Characteristics</a:t>
            </a: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4" y="1414020"/>
            <a:ext cx="10834234" cy="4640267"/>
          </a:xfrm>
        </p:spPr>
        <p:txBody>
          <a:bodyPr anchor="ctr">
            <a:normAutofit/>
          </a:bodyPr>
          <a:lstStyle/>
          <a:p>
            <a:pPr marL="0" indent="0">
              <a:buNone/>
            </a:pPr>
            <a:r>
              <a:rPr lang="en-US" dirty="0">
                <a:latin typeface="Times New Roman" panose="02020603050405020304" pitchFamily="18" charset="0"/>
                <a:cs typeface="Times New Roman" panose="02020603050405020304" pitchFamily="18" charset="0"/>
              </a:rPr>
              <a:t>Fraud cases are </a:t>
            </a:r>
            <a:r>
              <a:rPr lang="en-US" b="1" dirty="0">
                <a:latin typeface="Times New Roman" panose="02020603050405020304" pitchFamily="18" charset="0"/>
                <a:cs typeface="Times New Roman" panose="02020603050405020304" pitchFamily="18" charset="0"/>
              </a:rPr>
              <a:t>extremely rare (&lt;1%)</a:t>
            </a:r>
            <a:r>
              <a:rPr lang="en-US" dirty="0">
                <a:latin typeface="Times New Roman" panose="02020603050405020304" pitchFamily="18" charset="0"/>
                <a:cs typeface="Times New Roman" panose="02020603050405020304" pitchFamily="18" charset="0"/>
              </a:rPr>
              <a:t> → heavy imbalance.</a:t>
            </a:r>
          </a:p>
          <a:p>
            <a:pPr marL="0" indent="0">
              <a:buNone/>
            </a:pPr>
            <a:r>
              <a:rPr lang="en-US" dirty="0">
                <a:latin typeface="Times New Roman" panose="02020603050405020304" pitchFamily="18" charset="0"/>
                <a:cs typeface="Times New Roman" panose="02020603050405020304" pitchFamily="18" charset="0"/>
              </a:rPr>
              <a:t>Fraud pattern:</a:t>
            </a:r>
          </a:p>
          <a:p>
            <a:pPr lvl="1"/>
            <a:r>
              <a:rPr lang="en-US" dirty="0">
                <a:latin typeface="Times New Roman" panose="02020603050405020304" pitchFamily="18" charset="0"/>
                <a:cs typeface="Times New Roman" panose="02020603050405020304" pitchFamily="18" charset="0"/>
              </a:rPr>
              <a:t>Transfer money from hacked account</a:t>
            </a:r>
          </a:p>
          <a:p>
            <a:pPr lvl="1"/>
            <a:r>
              <a:rPr lang="en-US" dirty="0">
                <a:latin typeface="Times New Roman" panose="02020603050405020304" pitchFamily="18" charset="0"/>
                <a:cs typeface="Times New Roman" panose="02020603050405020304" pitchFamily="18" charset="0"/>
              </a:rPr>
              <a:t>Immediately cash out via another account</a:t>
            </a:r>
          </a:p>
          <a:p>
            <a:pPr marL="0" indent="0">
              <a:buNone/>
            </a:pPr>
            <a:r>
              <a:rPr lang="en-US" dirty="0">
                <a:latin typeface="Times New Roman" panose="02020603050405020304" pitchFamily="18" charset="0"/>
                <a:cs typeface="Times New Roman" panose="02020603050405020304" pitchFamily="18" charset="0"/>
              </a:rPr>
              <a:t>Fraud origin accounts usually start with </a:t>
            </a:r>
            <a:r>
              <a:rPr lang="en-US" b="1" dirty="0">
                <a:latin typeface="Times New Roman" panose="02020603050405020304" pitchFamily="18" charset="0"/>
                <a:cs typeface="Times New Roman" panose="02020603050405020304" pitchFamily="18" charset="0"/>
              </a:rPr>
              <a:t>zero balance</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Receiver accounts often show </a:t>
            </a:r>
            <a:r>
              <a:rPr lang="en-US" b="1" dirty="0">
                <a:latin typeface="Times New Roman" panose="02020603050405020304" pitchFamily="18" charset="0"/>
                <a:cs typeface="Times New Roman" panose="02020603050405020304" pitchFamily="18" charset="0"/>
              </a:rPr>
              <a:t>balance inconsistencies</a:t>
            </a:r>
            <a:r>
              <a:rPr lang="en-US" dirty="0">
                <a:latin typeface="Times New Roman" panose="02020603050405020304" pitchFamily="18" charset="0"/>
                <a:cs typeface="Times New Roman" panose="02020603050405020304" pitchFamily="18" charset="0"/>
              </a:rPr>
              <a:t>.</a:t>
            </a:r>
          </a:p>
          <a:p>
            <a:pPr marL="0" indent="0">
              <a:buNone/>
            </a:pPr>
            <a:endParaRPr lang="en-US" b="1"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Conclusion</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Fraud has recognizable financial behavior patterns.</a:t>
            </a:r>
          </a:p>
        </p:txBody>
      </p:sp>
    </p:spTree>
    <p:extLst>
      <p:ext uri="{BB962C8B-B14F-4D97-AF65-F5344CB8AC3E}">
        <p14:creationId xmlns:p14="http://schemas.microsoft.com/office/powerpoint/2010/main" val="19112055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p:txBody>
          <a:bodyPr/>
          <a:lstStyle/>
          <a:p>
            <a:endParaRPr lang="en-IN"/>
          </a:p>
        </p:txBody>
      </p:sp>
      <p:pic>
        <p:nvPicPr>
          <p:cNvPr id="2" name="Content Placeholder 1"/>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703976" y="1049850"/>
            <a:ext cx="5561284" cy="485722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29240969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normAutofit/>
          </a:bodyPr>
          <a:lstStyle/>
          <a:p>
            <a:r>
              <a:rPr lang="en-US" dirty="0">
                <a:latin typeface="Imprint MT Shadow" panose="04020605060303030202" pitchFamily="82" charset="0"/>
              </a:rPr>
              <a:t>Exploratory Data Analysis (EDA)</a:t>
            </a: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4" y="1414020"/>
            <a:ext cx="8088044" cy="4640267"/>
          </a:xfrm>
        </p:spPr>
        <p:txBody>
          <a:bodyPr anchor="ctr">
            <a:normAutofit/>
          </a:bodyPr>
          <a:lstStyle/>
          <a:p>
            <a:pPr marL="0" indent="0">
              <a:buNone/>
            </a:pPr>
            <a:r>
              <a:rPr lang="en-US" dirty="0">
                <a:latin typeface="Times New Roman" panose="02020603050405020304" pitchFamily="18" charset="0"/>
                <a:cs typeface="Times New Roman" panose="02020603050405020304" pitchFamily="18" charset="0"/>
              </a:rPr>
              <a:t>Key observations:</a:t>
            </a:r>
          </a:p>
          <a:p>
            <a:r>
              <a:rPr lang="en-US" dirty="0">
                <a:latin typeface="Times New Roman" panose="02020603050405020304" pitchFamily="18" charset="0"/>
                <a:cs typeface="Times New Roman" panose="02020603050405020304" pitchFamily="18" charset="0"/>
              </a:rPr>
              <a:t>Fraud is highly imbalanced → SMOTE required.</a:t>
            </a:r>
          </a:p>
          <a:p>
            <a:r>
              <a:rPr lang="en-US" dirty="0">
                <a:latin typeface="Times New Roman" panose="02020603050405020304" pitchFamily="18" charset="0"/>
                <a:cs typeface="Times New Roman" panose="02020603050405020304" pitchFamily="18" charset="0"/>
              </a:rPr>
              <a:t>Fraud transaction amounts differ from normal transactions.</a:t>
            </a:r>
          </a:p>
          <a:p>
            <a:r>
              <a:rPr lang="en-US" dirty="0">
                <a:latin typeface="Times New Roman" panose="02020603050405020304" pitchFamily="18" charset="0"/>
                <a:cs typeface="Times New Roman" panose="02020603050405020304" pitchFamily="18" charset="0"/>
              </a:rPr>
              <a:t>CASH_OUT and TRANSFER transaction types dominate fraud.</a:t>
            </a:r>
          </a:p>
          <a:p>
            <a:r>
              <a:rPr lang="en-US" dirty="0">
                <a:latin typeface="Times New Roman" panose="02020603050405020304" pitchFamily="18" charset="0"/>
                <a:cs typeface="Times New Roman" panose="02020603050405020304" pitchFamily="18" charset="0"/>
              </a:rPr>
              <a:t>Correlation shows balance-related features are highly significant.</a:t>
            </a:r>
          </a:p>
          <a:p>
            <a:r>
              <a:rPr lang="en-US" dirty="0">
                <a:latin typeface="Times New Roman" panose="02020603050405020304" pitchFamily="18" charset="0"/>
                <a:cs typeface="Times New Roman" panose="02020603050405020304" pitchFamily="18" charset="0"/>
              </a:rPr>
              <a:t>Many fraudulent senders have </a:t>
            </a:r>
            <a:r>
              <a:rPr lang="en-US" b="1" dirty="0" err="1">
                <a:latin typeface="Times New Roman" panose="02020603050405020304" pitchFamily="18" charset="0"/>
                <a:cs typeface="Times New Roman" panose="02020603050405020304" pitchFamily="18" charset="0"/>
              </a:rPr>
              <a:t>oldbalanceOrg</a:t>
            </a:r>
            <a:r>
              <a:rPr lang="en-US" b="1" dirty="0">
                <a:latin typeface="Times New Roman" panose="02020603050405020304" pitchFamily="18" charset="0"/>
                <a:cs typeface="Times New Roman" panose="02020603050405020304" pitchFamily="18" charset="0"/>
              </a:rPr>
              <a:t> = amount</a:t>
            </a:r>
            <a:r>
              <a:rPr lang="en-US" dirty="0">
                <a:latin typeface="Times New Roman" panose="02020603050405020304" pitchFamily="18" charset="0"/>
                <a:cs typeface="Times New Roman" panose="02020603050405020304" pitchFamily="18" charset="0"/>
              </a:rPr>
              <a:t> → zero afterwards.</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45888" y="1216441"/>
            <a:ext cx="3565294" cy="318457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2095813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normAutofit/>
          </a:bodyPr>
          <a:lstStyle/>
          <a:p>
            <a:r>
              <a:rPr lang="en-US" dirty="0">
                <a:latin typeface="Imprint MT Shadow" panose="04020605060303030202" pitchFamily="82" charset="0"/>
              </a:rPr>
              <a:t>Preprocessing Steps</a:t>
            </a: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678884" y="1489435"/>
            <a:ext cx="10834234" cy="4640267"/>
          </a:xfrm>
        </p:spPr>
        <p:txBody>
          <a:bodyPr anchor="ctr">
            <a:normAutofit/>
          </a:bodyPr>
          <a:lstStyle/>
          <a:p>
            <a:pPr marL="0" lvl="0" indent="0" eaLnBrk="0" fontAlgn="base" hangingPunct="0">
              <a:lnSpc>
                <a:spcPct val="100000"/>
              </a:lnSpc>
              <a:spcBef>
                <a:spcPct val="0"/>
              </a:spcBef>
              <a:spcAft>
                <a:spcPct val="0"/>
              </a:spcAft>
              <a:buNone/>
            </a:pPr>
            <a:r>
              <a:rPr lang="en-US" altLang="en-US" dirty="0" smtClean="0">
                <a:solidFill>
                  <a:schemeClr val="tx1"/>
                </a:solidFill>
                <a:latin typeface="Arial" panose="020B0604020202020204" pitchFamily="34" charset="0"/>
              </a:rPr>
              <a:t>Dropped </a:t>
            </a:r>
            <a:r>
              <a:rPr lang="en-US" altLang="en-US" dirty="0">
                <a:solidFill>
                  <a:schemeClr val="tx1"/>
                </a:solidFill>
                <a:latin typeface="Arial" panose="020B0604020202020204" pitchFamily="34" charset="0"/>
              </a:rPr>
              <a:t>high-cardinality </a:t>
            </a:r>
            <a:r>
              <a:rPr lang="en-US" altLang="en-US" dirty="0" smtClean="0">
                <a:solidFill>
                  <a:schemeClr val="tx1"/>
                </a:solidFill>
                <a:latin typeface="Arial" panose="020B0604020202020204" pitchFamily="34" charset="0"/>
              </a:rPr>
              <a:t>fields:</a:t>
            </a:r>
          </a:p>
          <a:p>
            <a:pPr lvl="1" eaLnBrk="0" fontAlgn="base" hangingPunct="0">
              <a:lnSpc>
                <a:spcPct val="100000"/>
              </a:lnSpc>
              <a:spcBef>
                <a:spcPct val="0"/>
              </a:spcBef>
              <a:spcAft>
                <a:spcPct val="0"/>
              </a:spcAft>
            </a:pPr>
            <a:r>
              <a:rPr lang="en-US" altLang="en-US" sz="2000" dirty="0" err="1" smtClean="0">
                <a:solidFill>
                  <a:schemeClr val="tx1"/>
                </a:solidFill>
                <a:latin typeface="Arial" panose="020B0604020202020204" pitchFamily="34" charset="0"/>
              </a:rPr>
              <a:t>nameOrig</a:t>
            </a:r>
            <a:endParaRPr lang="en-US" altLang="en-US" sz="2000" dirty="0">
              <a:solidFill>
                <a:schemeClr val="tx1"/>
              </a:solidFill>
              <a:latin typeface="Arial" panose="020B0604020202020204" pitchFamily="34" charset="0"/>
            </a:endParaRPr>
          </a:p>
          <a:p>
            <a:pPr lvl="1" eaLnBrk="0" fontAlgn="base" hangingPunct="0">
              <a:lnSpc>
                <a:spcPct val="100000"/>
              </a:lnSpc>
              <a:spcBef>
                <a:spcPct val="0"/>
              </a:spcBef>
              <a:spcAft>
                <a:spcPct val="0"/>
              </a:spcAft>
            </a:pPr>
            <a:r>
              <a:rPr lang="en-US" altLang="en-US" sz="2000" dirty="0" err="1">
                <a:solidFill>
                  <a:schemeClr val="tx1"/>
                </a:solidFill>
                <a:latin typeface="Arial" panose="020B0604020202020204" pitchFamily="34" charset="0"/>
              </a:rPr>
              <a:t>nameDest</a:t>
            </a:r>
            <a:endParaRPr lang="en-US" altLang="en-US" sz="20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dirty="0">
                <a:solidFill>
                  <a:schemeClr val="tx1"/>
                </a:solidFill>
                <a:latin typeface="Arial" panose="020B0604020202020204" pitchFamily="34" charset="0"/>
              </a:rPr>
              <a:t>Encoded transaction type using </a:t>
            </a:r>
            <a:r>
              <a:rPr lang="en-US" altLang="en-US" b="1" dirty="0">
                <a:solidFill>
                  <a:schemeClr val="tx1"/>
                </a:solidFill>
                <a:latin typeface="Arial" panose="020B0604020202020204" pitchFamily="34" charset="0"/>
              </a:rPr>
              <a:t>One-Hot Encoding</a:t>
            </a:r>
            <a:endParaRPr lang="en-US" altLang="en-US"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dirty="0">
                <a:solidFill>
                  <a:schemeClr val="tx1"/>
                </a:solidFill>
                <a:latin typeface="Arial" panose="020B0604020202020204" pitchFamily="34" charset="0"/>
              </a:rPr>
              <a:t>Engineered features</a:t>
            </a:r>
            <a:r>
              <a:rPr lang="en-US" altLang="en-US" dirty="0" smtClean="0">
                <a:solidFill>
                  <a:schemeClr val="tx1"/>
                </a:solidFill>
                <a:latin typeface="Arial" panose="020B0604020202020204" pitchFamily="34" charset="0"/>
              </a:rPr>
              <a:t>:</a:t>
            </a:r>
          </a:p>
          <a:p>
            <a:pPr marL="457200" lvl="1" indent="0" eaLnBrk="0" fontAlgn="base" hangingPunct="0">
              <a:lnSpc>
                <a:spcPct val="100000"/>
              </a:lnSpc>
              <a:spcBef>
                <a:spcPct val="0"/>
              </a:spcBef>
              <a:spcAft>
                <a:spcPct val="0"/>
              </a:spcAft>
              <a:buFontTx/>
              <a:buChar char="•"/>
            </a:pPr>
            <a:r>
              <a:rPr lang="en-US" altLang="en-US" sz="2000" dirty="0" err="1">
                <a:solidFill>
                  <a:schemeClr val="tx1"/>
                </a:solidFill>
                <a:latin typeface="Arial Unicode MS"/>
              </a:rPr>
              <a:t>org_diff</a:t>
            </a:r>
            <a:r>
              <a:rPr lang="en-US" altLang="en-US" sz="2000" dirty="0">
                <a:solidFill>
                  <a:schemeClr val="tx1"/>
                </a:solidFill>
                <a:latin typeface="Arial Unicode MS"/>
              </a:rPr>
              <a:t> = </a:t>
            </a:r>
            <a:r>
              <a:rPr lang="en-US" altLang="en-US" sz="2000" dirty="0" err="1">
                <a:solidFill>
                  <a:schemeClr val="tx1"/>
                </a:solidFill>
                <a:latin typeface="Arial Unicode MS"/>
              </a:rPr>
              <a:t>oldbalanceOrg</a:t>
            </a:r>
            <a:r>
              <a:rPr lang="en-US" altLang="en-US" sz="2000" dirty="0">
                <a:solidFill>
                  <a:schemeClr val="tx1"/>
                </a:solidFill>
                <a:latin typeface="Arial Unicode MS"/>
              </a:rPr>
              <a:t> – </a:t>
            </a:r>
            <a:r>
              <a:rPr lang="en-US" altLang="en-US" sz="2000" dirty="0" err="1">
                <a:solidFill>
                  <a:schemeClr val="tx1"/>
                </a:solidFill>
                <a:latin typeface="Arial Unicode MS"/>
              </a:rPr>
              <a:t>newbalanceOrg</a:t>
            </a:r>
            <a:endParaRPr lang="en-US" altLang="en-US" sz="2000" dirty="0">
              <a:solidFill>
                <a:schemeClr val="tx1"/>
              </a:solidFill>
            </a:endParaRPr>
          </a:p>
          <a:p>
            <a:pPr marL="457200" lvl="1" indent="0" eaLnBrk="0" fontAlgn="base" hangingPunct="0">
              <a:lnSpc>
                <a:spcPct val="100000"/>
              </a:lnSpc>
              <a:spcBef>
                <a:spcPct val="0"/>
              </a:spcBef>
              <a:spcAft>
                <a:spcPct val="0"/>
              </a:spcAft>
              <a:buFontTx/>
              <a:buChar char="•"/>
            </a:pPr>
            <a:r>
              <a:rPr lang="en-US" altLang="en-US" sz="2000" dirty="0" err="1">
                <a:solidFill>
                  <a:schemeClr val="tx1"/>
                </a:solidFill>
                <a:latin typeface="Arial Unicode MS"/>
              </a:rPr>
              <a:t>dest_diff</a:t>
            </a:r>
            <a:r>
              <a:rPr lang="en-US" altLang="en-US" sz="2000" dirty="0">
                <a:solidFill>
                  <a:schemeClr val="tx1"/>
                </a:solidFill>
                <a:latin typeface="Arial Unicode MS"/>
              </a:rPr>
              <a:t> = </a:t>
            </a:r>
            <a:r>
              <a:rPr lang="en-US" altLang="en-US" sz="2000" dirty="0" err="1">
                <a:solidFill>
                  <a:schemeClr val="tx1"/>
                </a:solidFill>
                <a:latin typeface="Arial Unicode MS"/>
              </a:rPr>
              <a:t>newbalanceDest</a:t>
            </a:r>
            <a:r>
              <a:rPr lang="en-US" altLang="en-US" sz="2000" dirty="0">
                <a:solidFill>
                  <a:schemeClr val="tx1"/>
                </a:solidFill>
                <a:latin typeface="Arial Unicode MS"/>
              </a:rPr>
              <a:t> – </a:t>
            </a:r>
            <a:r>
              <a:rPr lang="en-US" altLang="en-US" sz="2000" dirty="0" err="1">
                <a:solidFill>
                  <a:schemeClr val="tx1"/>
                </a:solidFill>
                <a:latin typeface="Arial Unicode MS"/>
              </a:rPr>
              <a:t>oldbalanceDest</a:t>
            </a:r>
            <a:endParaRPr lang="en-US" altLang="en-US" sz="2000" dirty="0">
              <a:solidFill>
                <a:schemeClr val="tx1"/>
              </a:solidFill>
            </a:endParaRPr>
          </a:p>
          <a:p>
            <a:pPr marL="457200" lvl="1" indent="0" eaLnBrk="0" fontAlgn="base" hangingPunct="0">
              <a:lnSpc>
                <a:spcPct val="100000"/>
              </a:lnSpc>
              <a:spcBef>
                <a:spcPct val="0"/>
              </a:spcBef>
              <a:spcAft>
                <a:spcPct val="0"/>
              </a:spcAft>
              <a:buFontTx/>
              <a:buChar char="•"/>
            </a:pPr>
            <a:r>
              <a:rPr lang="en-US" altLang="en-US" sz="2000" dirty="0" err="1">
                <a:solidFill>
                  <a:schemeClr val="tx1"/>
                </a:solidFill>
                <a:latin typeface="Arial Unicode MS"/>
              </a:rPr>
              <a:t>isZeroOrigin</a:t>
            </a:r>
            <a:r>
              <a:rPr lang="en-US" altLang="en-US" sz="2000" dirty="0">
                <a:solidFill>
                  <a:schemeClr val="tx1"/>
                </a:solidFill>
              </a:rPr>
              <a:t> </a:t>
            </a:r>
            <a:r>
              <a:rPr lang="en-US" altLang="en-US" sz="2000" dirty="0" smtClean="0">
                <a:solidFill>
                  <a:schemeClr val="tx1"/>
                </a:solidFill>
              </a:rPr>
              <a:t>flag</a:t>
            </a:r>
            <a:endParaRPr lang="en-US" altLang="en-US" sz="20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dirty="0" smtClean="0">
                <a:solidFill>
                  <a:schemeClr val="tx1"/>
                </a:solidFill>
                <a:latin typeface="Arial" panose="020B0604020202020204" pitchFamily="34" charset="0"/>
              </a:rPr>
              <a:t>Balanced </a:t>
            </a:r>
            <a:r>
              <a:rPr lang="en-US" altLang="en-US" dirty="0">
                <a:solidFill>
                  <a:schemeClr val="tx1"/>
                </a:solidFill>
                <a:latin typeface="Arial" panose="020B0604020202020204" pitchFamily="34" charset="0"/>
              </a:rPr>
              <a:t>data using </a:t>
            </a:r>
            <a:r>
              <a:rPr lang="en-US" altLang="en-US" b="1" dirty="0">
                <a:solidFill>
                  <a:schemeClr val="tx1"/>
                </a:solidFill>
                <a:latin typeface="Arial" panose="020B0604020202020204" pitchFamily="34" charset="0"/>
              </a:rPr>
              <a:t>SMOTE</a:t>
            </a:r>
            <a:endParaRPr lang="en-US" altLang="en-US"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dirty="0">
                <a:solidFill>
                  <a:schemeClr val="tx1"/>
                </a:solidFill>
                <a:latin typeface="Arial" panose="020B0604020202020204" pitchFamily="34" charset="0"/>
              </a:rPr>
              <a:t>Standardized numerical features with </a:t>
            </a:r>
            <a:r>
              <a:rPr lang="en-US" altLang="en-US" b="1" dirty="0" err="1" smtClean="0">
                <a:solidFill>
                  <a:schemeClr val="tx1"/>
                </a:solidFill>
                <a:latin typeface="Arial" panose="020B0604020202020204" pitchFamily="34" charset="0"/>
              </a:rPr>
              <a:t>StandardScaler</a:t>
            </a:r>
            <a:endParaRPr lang="en-US" altLang="en-US" dirty="0">
              <a:solidFill>
                <a:schemeClr val="tx1"/>
              </a:solidFill>
              <a:latin typeface="Arial" panose="020B0604020202020204" pitchFamily="34" charset="0"/>
            </a:endParaRPr>
          </a:p>
        </p:txBody>
      </p:sp>
    </p:spTree>
    <p:extLst>
      <p:ext uri="{BB962C8B-B14F-4D97-AF65-F5344CB8AC3E}">
        <p14:creationId xmlns:p14="http://schemas.microsoft.com/office/powerpoint/2010/main" val="321396339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latin typeface="Imprint MT Shadow" panose="04020605060303030202" pitchFamily="82" charset="0"/>
              </a:rPr>
              <a:t>Feature Engineering Summary</a:t>
            </a:r>
            <a:endParaRPr lang="en-IN" dirty="0">
              <a:latin typeface="Imprint MT Shadow" panose="04020605060303030202" pitchFamily="82" charset="0"/>
            </a:endParaRPr>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anchor="ctr"/>
          <a:lstStyle/>
          <a:p>
            <a:pPr marL="0" indent="0">
              <a:buNone/>
            </a:pPr>
            <a:r>
              <a:rPr lang="en-US" dirty="0"/>
              <a:t>Created powerful features:</a:t>
            </a:r>
          </a:p>
          <a:p>
            <a:pPr lvl="1"/>
            <a:r>
              <a:rPr lang="en-US" b="1" dirty="0" err="1"/>
              <a:t>org_diff</a:t>
            </a:r>
            <a:r>
              <a:rPr lang="en-US" dirty="0"/>
              <a:t> → how much money left sender</a:t>
            </a:r>
          </a:p>
          <a:p>
            <a:pPr lvl="1"/>
            <a:r>
              <a:rPr lang="en-US" b="1" dirty="0" err="1"/>
              <a:t>dest_diff</a:t>
            </a:r>
            <a:r>
              <a:rPr lang="en-US" dirty="0"/>
              <a:t> → how much money arrived at receiver</a:t>
            </a:r>
          </a:p>
          <a:p>
            <a:pPr lvl="1"/>
            <a:r>
              <a:rPr lang="en-US" b="1" dirty="0" err="1"/>
              <a:t>zero_balance_flag</a:t>
            </a:r>
            <a:r>
              <a:rPr lang="en-US" dirty="0"/>
              <a:t> → many fraud cases start with zero</a:t>
            </a:r>
          </a:p>
          <a:p>
            <a:pPr lvl="1"/>
            <a:r>
              <a:rPr lang="en-US" b="1" dirty="0"/>
              <a:t>one-hot encoded types</a:t>
            </a:r>
            <a:r>
              <a:rPr lang="en-US" dirty="0"/>
              <a:t> → identifies fraud-prone transaction types</a:t>
            </a:r>
          </a:p>
          <a:p>
            <a:pPr marL="0" indent="0">
              <a:buNone/>
            </a:pPr>
            <a:endParaRPr lang="en-US" b="1" dirty="0" smtClean="0"/>
          </a:p>
          <a:p>
            <a:pPr marL="0" indent="0">
              <a:buNone/>
            </a:pPr>
            <a:r>
              <a:rPr lang="en-US" b="1" dirty="0" smtClean="0"/>
              <a:t>Result</a:t>
            </a:r>
            <a:r>
              <a:rPr lang="en-US" b="1" dirty="0"/>
              <a:t>:</a:t>
            </a:r>
            <a:r>
              <a:rPr lang="en-US" dirty="0"/>
              <a:t> All engineered features improved model performance.</a:t>
            </a:r>
          </a:p>
        </p:txBody>
      </p:sp>
    </p:spTree>
    <p:extLst>
      <p:ext uri="{BB962C8B-B14F-4D97-AF65-F5344CB8AC3E}">
        <p14:creationId xmlns:p14="http://schemas.microsoft.com/office/powerpoint/2010/main" val="38655026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US" dirty="0">
                <a:latin typeface="Imprint MT Shadow" panose="04020605060303030202" pitchFamily="82" charset="0"/>
              </a:rPr>
              <a:t>Models Evaluated</a:t>
            </a:r>
            <a:endParaRPr lang="en-IN" dirty="0">
              <a:latin typeface="Imprint MT Shadow" panose="04020605060303030202" pitchFamily="82" charset="0"/>
            </a:endParaRP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678884" y="1675075"/>
            <a:ext cx="10834234" cy="4398066"/>
          </a:xfrm>
          <a:prstGeom prst="rect">
            <a:avLst/>
          </a:prstGeom>
        </p:spPr>
        <p:txBody>
          <a:bodyPr>
            <a:normAutofit fontScale="92500" lnSpcReduction="20000"/>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marL="0" indent="0">
              <a:buNone/>
            </a:pPr>
            <a:r>
              <a:rPr lang="en-US" dirty="0"/>
              <a:t>Models tested:</a:t>
            </a:r>
          </a:p>
          <a:p>
            <a:pPr lvl="1"/>
            <a:r>
              <a:rPr lang="en-US" dirty="0"/>
              <a:t>Logistic Regression</a:t>
            </a:r>
          </a:p>
          <a:p>
            <a:pPr lvl="1"/>
            <a:r>
              <a:rPr lang="en-US" dirty="0"/>
              <a:t>Random Forest</a:t>
            </a:r>
          </a:p>
          <a:p>
            <a:pPr lvl="1"/>
            <a:r>
              <a:rPr lang="en-US" dirty="0"/>
              <a:t>Gradient Boosting</a:t>
            </a:r>
          </a:p>
          <a:p>
            <a:pPr lvl="1"/>
            <a:r>
              <a:rPr lang="en-US" dirty="0" smtClean="0"/>
              <a:t>Decision Tree</a:t>
            </a:r>
          </a:p>
          <a:p>
            <a:pPr lvl="1"/>
            <a:r>
              <a:rPr lang="en-US" dirty="0" smtClean="0"/>
              <a:t>SVM</a:t>
            </a:r>
          </a:p>
          <a:p>
            <a:pPr lvl="1"/>
            <a:r>
              <a:rPr lang="en-US" dirty="0" err="1" smtClean="0"/>
              <a:t>AdaBoost</a:t>
            </a:r>
            <a:endParaRPr lang="en-US" dirty="0"/>
          </a:p>
          <a:p>
            <a:pPr marL="0" indent="0">
              <a:buNone/>
            </a:pPr>
            <a:r>
              <a:rPr lang="en-US" dirty="0"/>
              <a:t>Evaluation metrics:</a:t>
            </a:r>
          </a:p>
          <a:p>
            <a:pPr lvl="1"/>
            <a:r>
              <a:rPr lang="en-US" dirty="0"/>
              <a:t>Accuracy</a:t>
            </a:r>
          </a:p>
          <a:p>
            <a:pPr lvl="1"/>
            <a:r>
              <a:rPr lang="en-US" dirty="0"/>
              <a:t>Precision</a:t>
            </a:r>
          </a:p>
          <a:p>
            <a:pPr lvl="1"/>
            <a:r>
              <a:rPr lang="en-US" dirty="0"/>
              <a:t>Recall</a:t>
            </a:r>
          </a:p>
          <a:p>
            <a:pPr lvl="1"/>
            <a:r>
              <a:rPr lang="en-US" dirty="0"/>
              <a:t>F1-score</a:t>
            </a:r>
          </a:p>
          <a:p>
            <a:pPr lvl="1"/>
            <a:r>
              <a:rPr lang="en-US" dirty="0"/>
              <a:t>ROC-AUC</a:t>
            </a:r>
          </a:p>
          <a:p>
            <a:pPr lvl="1"/>
            <a:r>
              <a:rPr lang="en-US" dirty="0"/>
              <a:t>Confusion matrices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24697" y="1423448"/>
            <a:ext cx="7606878" cy="406801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2724594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p:txBody>
          <a:bodyPr/>
          <a:lstStyle/>
          <a:p>
            <a:endParaRPr lang="en-IN"/>
          </a:p>
        </p:txBody>
      </p:sp>
      <p:pic>
        <p:nvPicPr>
          <p:cNvPr id="7" name="Content Placeholder 6"/>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445777" y="1574278"/>
            <a:ext cx="5272009" cy="380977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5715661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p:txBody>
          <a:bodyPr/>
          <a:lstStyle/>
          <a:p>
            <a:endParaRPr lang="en-IN"/>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p:txBody>
          <a:bodyPr/>
          <a:lstStyle/>
          <a:p>
            <a:endParaRPr lang="en-IN"/>
          </a:p>
        </p:txBody>
      </p:sp>
      <p:pic>
        <p:nvPicPr>
          <p:cNvPr id="6" name="Content Placeholder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1251" y="1036495"/>
            <a:ext cx="9749738" cy="4855257"/>
          </a:xfrm>
          <a:prstGeom prst="rect">
            <a:avLst/>
          </a:prstGeom>
        </p:spPr>
      </p:pic>
    </p:spTree>
    <p:extLst>
      <p:ext uri="{BB962C8B-B14F-4D97-AF65-F5344CB8AC3E}">
        <p14:creationId xmlns:p14="http://schemas.microsoft.com/office/powerpoint/2010/main" val="13444202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latin typeface="Imprint MT Shadow" panose="04020605060303030202" pitchFamily="82" charset="0"/>
              </a:rPr>
              <a:t>Best Model: Random Forest</a:t>
            </a:r>
            <a:endParaRPr lang="en-US" dirty="0">
              <a:latin typeface="Imprint MT Shadow" panose="04020605060303030202" pitchFamily="82" charset="0"/>
            </a:endParaRPr>
          </a:p>
        </p:txBody>
      </p:sp>
      <p:sp>
        <p:nvSpPr>
          <p:cNvPr id="2" name="Content Placeholder 1">
            <a:extLst>
              <a:ext uri="{FF2B5EF4-FFF2-40B4-BE49-F238E27FC236}">
                <a16:creationId xmlns:a16="http://schemas.microsoft.com/office/drawing/2014/main" id="{C9565BAE-48A9-8300-4E79-87D77968413B}"/>
              </a:ext>
            </a:extLst>
          </p:cNvPr>
          <p:cNvSpPr>
            <a:spLocks noGrp="1"/>
          </p:cNvSpPr>
          <p:nvPr>
            <p:ph idx="1"/>
          </p:nvPr>
        </p:nvSpPr>
        <p:spPr>
          <a:xfrm>
            <a:off x="678884" y="1675075"/>
            <a:ext cx="12631763" cy="4398066"/>
          </a:xfrm>
        </p:spPr>
        <p:txBody>
          <a:bodyPr lIns="0" tIns="0" rIns="0" bIns="0" numCol="2">
            <a:normAutofit/>
          </a:bodyPr>
          <a:lstStyle/>
          <a:p>
            <a:pPr marL="0" indent="0">
              <a:buNone/>
            </a:pPr>
            <a:r>
              <a:rPr lang="en-US" sz="2400" dirty="0">
                <a:latin typeface="Times New Roman" panose="02020603050405020304" pitchFamily="18" charset="0"/>
                <a:cs typeface="Times New Roman" panose="02020603050405020304" pitchFamily="18" charset="0"/>
              </a:rPr>
              <a:t>Why Random Forest performed best:</a:t>
            </a:r>
          </a:p>
          <a:p>
            <a:pPr lvl="1"/>
            <a:r>
              <a:rPr lang="en-US" sz="2000" dirty="0">
                <a:latin typeface="Times New Roman" panose="02020603050405020304" pitchFamily="18" charset="0"/>
                <a:cs typeface="Times New Roman" panose="02020603050405020304" pitchFamily="18" charset="0"/>
              </a:rPr>
              <a:t>Handles non-linear patterns very well</a:t>
            </a:r>
          </a:p>
          <a:p>
            <a:pPr lvl="1"/>
            <a:r>
              <a:rPr lang="en-US" sz="2000" dirty="0">
                <a:latin typeface="Times New Roman" panose="02020603050405020304" pitchFamily="18" charset="0"/>
                <a:cs typeface="Times New Roman" panose="02020603050405020304" pitchFamily="18" charset="0"/>
              </a:rPr>
              <a:t>Strong recall for fraud detection</a:t>
            </a:r>
          </a:p>
          <a:p>
            <a:pPr lvl="1"/>
            <a:r>
              <a:rPr lang="en-US" sz="2000" dirty="0">
                <a:latin typeface="Times New Roman" panose="02020603050405020304" pitchFamily="18" charset="0"/>
                <a:cs typeface="Times New Roman" panose="02020603050405020304" pitchFamily="18" charset="0"/>
              </a:rPr>
              <a:t>More stable than single decision trees</a:t>
            </a:r>
          </a:p>
          <a:p>
            <a:pPr lvl="1"/>
            <a:r>
              <a:rPr lang="en-US" sz="2000" dirty="0">
                <a:latin typeface="Times New Roman" panose="02020603050405020304" pitchFamily="18" charset="0"/>
                <a:cs typeface="Times New Roman" panose="02020603050405020304" pitchFamily="18" charset="0"/>
              </a:rPr>
              <a:t>Works well with balanced data (SMOTE)</a:t>
            </a:r>
          </a:p>
          <a:p>
            <a:pPr lvl="1"/>
            <a:r>
              <a:rPr lang="en-US" sz="2000" dirty="0">
                <a:latin typeface="Times New Roman" panose="02020603050405020304" pitchFamily="18" charset="0"/>
                <a:cs typeface="Times New Roman" panose="02020603050405020304" pitchFamily="18" charset="0"/>
              </a:rPr>
              <a:t>Good performance without heavy </a:t>
            </a:r>
            <a:r>
              <a:rPr lang="en-US" sz="2000" dirty="0" err="1">
                <a:latin typeface="Times New Roman" panose="02020603050405020304" pitchFamily="18" charset="0"/>
                <a:cs typeface="Times New Roman" panose="02020603050405020304" pitchFamily="18" charset="0"/>
              </a:rPr>
              <a:t>hyperparameter</a:t>
            </a:r>
            <a:r>
              <a:rPr lang="en-US" sz="2000" dirty="0">
                <a:latin typeface="Times New Roman" panose="02020603050405020304" pitchFamily="18" charset="0"/>
                <a:cs typeface="Times New Roman" panose="02020603050405020304" pitchFamily="18" charset="0"/>
              </a:rPr>
              <a:t> tuning</a:t>
            </a:r>
          </a:p>
          <a:p>
            <a:pPr marL="0" indent="0">
              <a:buNone/>
            </a:pPr>
            <a:endParaRPr lang="en-US" sz="2400" b="1" dirty="0" smtClean="0">
              <a:latin typeface="Times New Roman" panose="02020603050405020304" pitchFamily="18" charset="0"/>
              <a:cs typeface="Times New Roman" panose="02020603050405020304" pitchFamily="18" charset="0"/>
            </a:endParaRPr>
          </a:p>
          <a:p>
            <a:pPr marL="0" indent="0">
              <a:buNone/>
            </a:pPr>
            <a:r>
              <a:rPr lang="en-US" sz="2400" b="1" dirty="0" smtClean="0">
                <a:latin typeface="Times New Roman" panose="02020603050405020304" pitchFamily="18" charset="0"/>
                <a:cs typeface="Times New Roman" panose="02020603050405020304" pitchFamily="18" charset="0"/>
              </a:rPr>
              <a:t>Selected </a:t>
            </a:r>
            <a:r>
              <a:rPr lang="en-US" sz="2400" b="1" dirty="0">
                <a:latin typeface="Times New Roman" panose="02020603050405020304" pitchFamily="18" charset="0"/>
                <a:cs typeface="Times New Roman" panose="02020603050405020304" pitchFamily="18" charset="0"/>
              </a:rPr>
              <a:t>Model for Deployment: </a:t>
            </a:r>
            <a:r>
              <a:rPr lang="en-US" sz="2400" b="1" dirty="0" smtClean="0">
                <a:latin typeface="Times New Roman" panose="02020603050405020304" pitchFamily="18" charset="0"/>
                <a:cs typeface="Times New Roman" panose="02020603050405020304" pitchFamily="18" charset="0"/>
              </a:rPr>
              <a:t>Random Forest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59924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latin typeface="Imprint MT Shadow" panose="04020605060303030202" pitchFamily="82" charset="0"/>
              </a:rPr>
              <a:t>Model Performance Metrics</a:t>
            </a:r>
            <a:endParaRPr lang="en-US" dirty="0">
              <a:latin typeface="Imprint MT Shadow" panose="04020605060303030202" pitchFamily="82" charset="0"/>
            </a:endParaRPr>
          </a:p>
        </p:txBody>
      </p:sp>
      <p:sp>
        <p:nvSpPr>
          <p:cNvPr id="2" name="Content Placeholder 1">
            <a:extLst>
              <a:ext uri="{FF2B5EF4-FFF2-40B4-BE49-F238E27FC236}">
                <a16:creationId xmlns:a16="http://schemas.microsoft.com/office/drawing/2014/main" id="{C9565BAE-48A9-8300-4E79-87D77968413B}"/>
              </a:ext>
            </a:extLst>
          </p:cNvPr>
          <p:cNvSpPr>
            <a:spLocks noGrp="1"/>
          </p:cNvSpPr>
          <p:nvPr>
            <p:ph idx="1"/>
          </p:nvPr>
        </p:nvSpPr>
        <p:spPr>
          <a:xfrm>
            <a:off x="678884" y="1675075"/>
            <a:ext cx="12631763" cy="4398066"/>
          </a:xfrm>
        </p:spPr>
        <p:txBody>
          <a:bodyPr lIns="0" tIns="0" rIns="0" bIns="0" numCol="2" anchor="ctr">
            <a:normAutofit/>
          </a:bodyPr>
          <a:lstStyle/>
          <a:p>
            <a:pPr marL="0" lvl="0" indent="0" eaLnBrk="0" fontAlgn="base" hangingPunct="0">
              <a:lnSpc>
                <a:spcPct val="100000"/>
              </a:lnSpc>
              <a:spcBef>
                <a:spcPct val="0"/>
              </a:spcBef>
              <a:spcAft>
                <a:spcPct val="0"/>
              </a:spcAft>
              <a:buFontTx/>
              <a:buChar char="•"/>
            </a:pPr>
            <a:r>
              <a:rPr lang="en-US" altLang="en-US" sz="2400" b="1" dirty="0" smtClean="0">
                <a:solidFill>
                  <a:schemeClr val="tx1"/>
                </a:solidFill>
                <a:latin typeface="Times New Roman" panose="02020603050405020304" pitchFamily="18" charset="0"/>
                <a:cs typeface="Times New Roman" panose="02020603050405020304" pitchFamily="18" charset="0"/>
              </a:rPr>
              <a:t>Accuracy</a:t>
            </a:r>
            <a:r>
              <a:rPr lang="en-US" altLang="en-US" sz="2400" b="1" dirty="0">
                <a:solidFill>
                  <a:schemeClr val="tx1"/>
                </a:solidFill>
                <a:latin typeface="Times New Roman" panose="02020603050405020304" pitchFamily="18" charset="0"/>
                <a:cs typeface="Times New Roman" panose="02020603050405020304" pitchFamily="18" charset="0"/>
              </a:rPr>
              <a:t>:</a:t>
            </a:r>
            <a:r>
              <a:rPr lang="en-US" altLang="en-US" sz="2400" dirty="0">
                <a:solidFill>
                  <a:schemeClr val="tx1"/>
                </a:solidFill>
                <a:latin typeface="Times New Roman" panose="02020603050405020304" pitchFamily="18" charset="0"/>
                <a:cs typeface="Times New Roman" panose="02020603050405020304" pitchFamily="18" charset="0"/>
              </a:rPr>
              <a:t> ~99%</a:t>
            </a:r>
          </a:p>
          <a:p>
            <a:pPr marL="0" lvl="0" indent="0" eaLnBrk="0" fontAlgn="base" hangingPunct="0">
              <a:lnSpc>
                <a:spcPct val="100000"/>
              </a:lnSpc>
              <a:spcBef>
                <a:spcPct val="0"/>
              </a:spcBef>
              <a:spcAft>
                <a:spcPct val="0"/>
              </a:spcAft>
              <a:buFontTx/>
              <a:buChar char="•"/>
            </a:pPr>
            <a:r>
              <a:rPr lang="en-US" altLang="en-US" sz="2400" b="1" dirty="0">
                <a:solidFill>
                  <a:schemeClr val="tx1"/>
                </a:solidFill>
                <a:latin typeface="Times New Roman" panose="02020603050405020304" pitchFamily="18" charset="0"/>
                <a:cs typeface="Times New Roman" panose="02020603050405020304" pitchFamily="18" charset="0"/>
              </a:rPr>
              <a:t>Precision:</a:t>
            </a:r>
            <a:r>
              <a:rPr lang="en-US" altLang="en-US" sz="2400" dirty="0">
                <a:solidFill>
                  <a:schemeClr val="tx1"/>
                </a:solidFill>
                <a:latin typeface="Times New Roman" panose="02020603050405020304" pitchFamily="18" charset="0"/>
                <a:cs typeface="Times New Roman" panose="02020603050405020304" pitchFamily="18" charset="0"/>
              </a:rPr>
              <a:t> high</a:t>
            </a:r>
          </a:p>
          <a:p>
            <a:pPr marL="0" lvl="0" indent="0" eaLnBrk="0" fontAlgn="base" hangingPunct="0">
              <a:lnSpc>
                <a:spcPct val="100000"/>
              </a:lnSpc>
              <a:spcBef>
                <a:spcPct val="0"/>
              </a:spcBef>
              <a:spcAft>
                <a:spcPct val="0"/>
              </a:spcAft>
              <a:buFontTx/>
              <a:buChar char="•"/>
            </a:pPr>
            <a:r>
              <a:rPr lang="en-US" altLang="en-US" sz="2400" b="1" dirty="0">
                <a:solidFill>
                  <a:schemeClr val="tx1"/>
                </a:solidFill>
                <a:latin typeface="Times New Roman" panose="02020603050405020304" pitchFamily="18" charset="0"/>
                <a:cs typeface="Times New Roman" panose="02020603050405020304" pitchFamily="18" charset="0"/>
              </a:rPr>
              <a:t>Recall:</a:t>
            </a:r>
            <a:r>
              <a:rPr lang="en-US" altLang="en-US" sz="2400" dirty="0">
                <a:solidFill>
                  <a:schemeClr val="tx1"/>
                </a:solidFill>
                <a:latin typeface="Times New Roman" panose="02020603050405020304" pitchFamily="18" charset="0"/>
                <a:cs typeface="Times New Roman" panose="02020603050405020304" pitchFamily="18" charset="0"/>
              </a:rPr>
              <a:t> high → important in fraud detection</a:t>
            </a:r>
          </a:p>
          <a:p>
            <a:pPr marL="0" lvl="0" indent="0" eaLnBrk="0" fontAlgn="base" hangingPunct="0">
              <a:lnSpc>
                <a:spcPct val="100000"/>
              </a:lnSpc>
              <a:spcBef>
                <a:spcPct val="0"/>
              </a:spcBef>
              <a:spcAft>
                <a:spcPct val="0"/>
              </a:spcAft>
              <a:buFontTx/>
              <a:buChar char="•"/>
            </a:pPr>
            <a:r>
              <a:rPr lang="en-US" altLang="en-US" sz="2400" b="1" dirty="0">
                <a:solidFill>
                  <a:schemeClr val="tx1"/>
                </a:solidFill>
                <a:latin typeface="Times New Roman" panose="02020603050405020304" pitchFamily="18" charset="0"/>
                <a:cs typeface="Times New Roman" panose="02020603050405020304" pitchFamily="18" charset="0"/>
              </a:rPr>
              <a:t>F1-score:</a:t>
            </a:r>
            <a:r>
              <a:rPr lang="en-US" altLang="en-US" sz="2400" dirty="0">
                <a:solidFill>
                  <a:schemeClr val="tx1"/>
                </a:solidFill>
                <a:latin typeface="Times New Roman" panose="02020603050405020304" pitchFamily="18" charset="0"/>
                <a:cs typeface="Times New Roman" panose="02020603050405020304" pitchFamily="18" charset="0"/>
              </a:rPr>
              <a:t> strong</a:t>
            </a:r>
          </a:p>
          <a:p>
            <a:pPr marL="0" lvl="0" indent="0" eaLnBrk="0" fontAlgn="base" hangingPunct="0">
              <a:lnSpc>
                <a:spcPct val="100000"/>
              </a:lnSpc>
              <a:spcBef>
                <a:spcPct val="0"/>
              </a:spcBef>
              <a:spcAft>
                <a:spcPct val="0"/>
              </a:spcAft>
              <a:buFontTx/>
              <a:buChar char="•"/>
            </a:pPr>
            <a:r>
              <a:rPr lang="en-US" altLang="en-US" sz="2400" b="1" dirty="0">
                <a:solidFill>
                  <a:schemeClr val="tx1"/>
                </a:solidFill>
                <a:latin typeface="Times New Roman" panose="02020603050405020304" pitchFamily="18" charset="0"/>
                <a:cs typeface="Times New Roman" panose="02020603050405020304" pitchFamily="18" charset="0"/>
              </a:rPr>
              <a:t>ROC-AUC:</a:t>
            </a:r>
            <a:r>
              <a:rPr lang="en-US" altLang="en-US" sz="2400" dirty="0">
                <a:solidFill>
                  <a:schemeClr val="tx1"/>
                </a:solidFill>
                <a:latin typeface="Times New Roman" panose="02020603050405020304" pitchFamily="18" charset="0"/>
                <a:cs typeface="Times New Roman" panose="02020603050405020304" pitchFamily="18" charset="0"/>
              </a:rPr>
              <a:t> excellent</a:t>
            </a:r>
          </a:p>
          <a:p>
            <a:pPr marL="0" lvl="0" indent="0" eaLnBrk="0" fontAlgn="base" hangingPunct="0">
              <a:lnSpc>
                <a:spcPct val="100000"/>
              </a:lnSpc>
              <a:spcBef>
                <a:spcPct val="0"/>
              </a:spcBef>
              <a:spcAft>
                <a:spcPct val="0"/>
              </a:spcAft>
              <a:buNone/>
            </a:pPr>
            <a:endParaRPr lang="en-US" altLang="en-US" sz="2400" b="1" dirty="0" smtClean="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None/>
            </a:pPr>
            <a:r>
              <a:rPr lang="en-US" altLang="en-US" sz="2400" b="1" dirty="0" smtClean="0">
                <a:solidFill>
                  <a:schemeClr val="tx1"/>
                </a:solidFill>
                <a:latin typeface="Times New Roman" panose="02020603050405020304" pitchFamily="18" charset="0"/>
                <a:cs typeface="Times New Roman" panose="02020603050405020304" pitchFamily="18" charset="0"/>
              </a:rPr>
              <a:t>Confusion </a:t>
            </a:r>
            <a:r>
              <a:rPr lang="en-US" altLang="en-US" sz="2400" b="1" dirty="0">
                <a:solidFill>
                  <a:schemeClr val="tx1"/>
                </a:solidFill>
                <a:latin typeface="Times New Roman" panose="02020603050405020304" pitchFamily="18" charset="0"/>
                <a:cs typeface="Times New Roman" panose="02020603050405020304" pitchFamily="18" charset="0"/>
              </a:rPr>
              <a:t>matrix:</a:t>
            </a:r>
            <a:endParaRPr lang="en-US" altLang="en-US" sz="2400" dirty="0">
              <a:solidFill>
                <a:schemeClr val="tx1"/>
              </a:solidFill>
              <a:latin typeface="Times New Roman" panose="02020603050405020304" pitchFamily="18" charset="0"/>
              <a:cs typeface="Times New Roman" panose="02020603050405020304" pitchFamily="18" charset="0"/>
            </a:endParaRPr>
          </a:p>
          <a:p>
            <a:pPr marL="457200" lvl="1" indent="0" eaLnBrk="0" fontAlgn="base" hangingPunct="0">
              <a:lnSpc>
                <a:spcPct val="100000"/>
              </a:lnSpc>
              <a:spcBef>
                <a:spcPct val="0"/>
              </a:spcBef>
              <a:spcAft>
                <a:spcPct val="0"/>
              </a:spcAft>
              <a:buFontTx/>
              <a:buChar char="•"/>
            </a:pPr>
            <a:r>
              <a:rPr lang="en-US" altLang="en-US" sz="2000" dirty="0">
                <a:solidFill>
                  <a:schemeClr val="tx1"/>
                </a:solidFill>
                <a:latin typeface="Times New Roman" panose="02020603050405020304" pitchFamily="18" charset="0"/>
                <a:cs typeface="Times New Roman" panose="02020603050405020304" pitchFamily="18" charset="0"/>
              </a:rPr>
              <a:t>Very low false negatives</a:t>
            </a:r>
          </a:p>
          <a:p>
            <a:pPr marL="457200" lvl="1" indent="0" eaLnBrk="0" fontAlgn="base" hangingPunct="0">
              <a:lnSpc>
                <a:spcPct val="100000"/>
              </a:lnSpc>
              <a:spcBef>
                <a:spcPct val="0"/>
              </a:spcBef>
              <a:spcAft>
                <a:spcPct val="0"/>
              </a:spcAft>
              <a:buFontTx/>
              <a:buChar char="•"/>
            </a:pPr>
            <a:r>
              <a:rPr lang="en-US" altLang="en-US" sz="2000" dirty="0">
                <a:solidFill>
                  <a:schemeClr val="tx1"/>
                </a:solidFill>
                <a:latin typeface="Times New Roman" panose="02020603050405020304" pitchFamily="18" charset="0"/>
                <a:cs typeface="Times New Roman" panose="02020603050405020304" pitchFamily="18" charset="0"/>
              </a:rPr>
              <a:t>Acceptable false positives</a:t>
            </a:r>
          </a:p>
          <a:p>
            <a:pPr marL="0" lvl="0" indent="0" eaLnBrk="0" fontAlgn="base" hangingPunct="0">
              <a:lnSpc>
                <a:spcPct val="100000"/>
              </a:lnSpc>
              <a:spcBef>
                <a:spcPct val="0"/>
              </a:spcBef>
              <a:spcAft>
                <a:spcPct val="0"/>
              </a:spcAft>
              <a:buNone/>
            </a:pPr>
            <a:endParaRPr lang="en-US" altLang="en-US" sz="2400" dirty="0">
              <a:solidFill>
                <a:schemeClr val="tx1"/>
              </a:solidFill>
              <a:latin typeface="Arial" panose="020B0604020202020204" pitchFamily="34" charset="0"/>
            </a:endParaRPr>
          </a:p>
        </p:txBody>
      </p:sp>
    </p:spTree>
    <p:extLst>
      <p:ext uri="{BB962C8B-B14F-4D97-AF65-F5344CB8AC3E}">
        <p14:creationId xmlns:p14="http://schemas.microsoft.com/office/powerpoint/2010/main" val="17264295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latin typeface="Imprint MT Shadow" panose="04020605060303030202" pitchFamily="82" charset="0"/>
              </a:rPr>
              <a:t>Deployment Overview</a:t>
            </a:r>
            <a:endParaRPr lang="en-US" dirty="0">
              <a:latin typeface="Imprint MT Shadow" panose="04020605060303030202" pitchFamily="82" charset="0"/>
            </a:endParaRPr>
          </a:p>
        </p:txBody>
      </p:sp>
      <p:sp>
        <p:nvSpPr>
          <p:cNvPr id="5" name="Rectangle 2"/>
          <p:cNvSpPr>
            <a:spLocks noGrp="1" noChangeArrowheads="1"/>
          </p:cNvSpPr>
          <p:nvPr>
            <p:ph idx="1"/>
          </p:nvPr>
        </p:nvSpPr>
        <p:spPr bwMode="auto">
          <a:xfrm>
            <a:off x="679450" y="1673694"/>
            <a:ext cx="8464177"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Deployment steps: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Trained model saved → </a:t>
            </a:r>
            <a:r>
              <a:rPr kumimoji="0" lang="en-US" alt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model.pkl</a:t>
            </a:r>
            <a:endPar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Preprocessing scaler saved → </a:t>
            </a:r>
            <a:r>
              <a:rPr kumimoji="0" lang="en-US" altLang="en-US" sz="2400" b="0"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scaler.pkl</a:t>
            </a:r>
            <a:endPar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Built </a:t>
            </a:r>
            <a:r>
              <a:rPr kumimoji="0" lang="en-US" altLang="en-US"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Streamlit</a:t>
            </a:r>
            <a:r>
              <a:rPr kumimoji="0" lang="en-US" altLang="en-US"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application</a:t>
            </a: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User enters transaction features</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Backend applies preprocessing + Random Forest model</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UI outputs: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Fraud (1)</a:t>
            </a:r>
            <a:r>
              <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2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Not Fraud (0)</a:t>
            </a:r>
            <a:endPar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Fraud probability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93225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latin typeface="Imprint MT Shadow" panose="04020605060303030202" pitchFamily="82" charset="0"/>
              </a:rPr>
              <a:t>Deployment Overview</a:t>
            </a:r>
            <a:endParaRPr lang="en-US" dirty="0">
              <a:latin typeface="Imprint MT Shadow" panose="04020605060303030202" pitchFamily="82" charset="0"/>
            </a:endParaRPr>
          </a:p>
        </p:txBody>
      </p:sp>
      <p:sp>
        <p:nvSpPr>
          <p:cNvPr id="5" name="Rectangle 2"/>
          <p:cNvSpPr>
            <a:spLocks noGrp="1" noChangeArrowheads="1"/>
          </p:cNvSpPr>
          <p:nvPr>
            <p:ph idx="1"/>
          </p:nvPr>
        </p:nvSpPr>
        <p:spPr bwMode="auto">
          <a:xfrm>
            <a:off x="678884" y="1441891"/>
            <a:ext cx="7182505" cy="4806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1600" b="1" dirty="0" smtClean="0">
                <a:latin typeface="Times New Roman" panose="02020603050405020304" pitchFamily="18" charset="0"/>
                <a:cs typeface="Times New Roman" panose="02020603050405020304" pitchFamily="18" charset="0"/>
              </a:rPr>
              <a:t>1. Single Transaction Prediction</a:t>
            </a:r>
          </a:p>
          <a:p>
            <a:pPr marL="0" indent="0">
              <a:buNone/>
            </a:pPr>
            <a:r>
              <a:rPr lang="en-US" sz="1600" dirty="0" smtClean="0">
                <a:latin typeface="Times New Roman" panose="02020603050405020304" pitchFamily="18" charset="0"/>
                <a:cs typeface="Times New Roman" panose="02020603050405020304" pitchFamily="18" charset="0"/>
              </a:rPr>
              <a:t>User enters all transaction attributes manually</a:t>
            </a:r>
          </a:p>
          <a:p>
            <a:pPr marL="0" indent="0">
              <a:buNone/>
            </a:pPr>
            <a:r>
              <a:rPr lang="en-US" sz="1600" dirty="0" smtClean="0">
                <a:latin typeface="Times New Roman" panose="02020603050405020304" pitchFamily="18" charset="0"/>
                <a:cs typeface="Times New Roman" panose="02020603050405020304" pitchFamily="18" charset="0"/>
              </a:rPr>
              <a:t>App preprocesses → Random Forest model predicts</a:t>
            </a:r>
          </a:p>
          <a:p>
            <a:pPr marL="0" indent="0">
              <a:buNone/>
            </a:pPr>
            <a:r>
              <a:rPr lang="en-US" sz="1600" dirty="0" smtClean="0">
                <a:latin typeface="Times New Roman" panose="02020603050405020304" pitchFamily="18" charset="0"/>
                <a:cs typeface="Times New Roman" panose="02020603050405020304" pitchFamily="18" charset="0"/>
              </a:rPr>
              <a:t>Output shows:</a:t>
            </a:r>
          </a:p>
          <a:p>
            <a:pPr lvl="1"/>
            <a:r>
              <a:rPr lang="en-US" sz="1400" dirty="0" smtClean="0">
                <a:latin typeface="Times New Roman" panose="02020603050405020304" pitchFamily="18" charset="0"/>
                <a:cs typeface="Times New Roman" panose="02020603050405020304" pitchFamily="18" charset="0"/>
              </a:rPr>
              <a:t>Fraud / Not Fraud</a:t>
            </a:r>
          </a:p>
          <a:p>
            <a:pPr lvl="1"/>
            <a:r>
              <a:rPr lang="en-US" sz="1400" dirty="0" smtClean="0">
                <a:latin typeface="Times New Roman" panose="02020603050405020304" pitchFamily="18" charset="0"/>
                <a:cs typeface="Times New Roman" panose="02020603050405020304" pitchFamily="18" charset="0"/>
              </a:rPr>
              <a:t>Probability score</a:t>
            </a:r>
          </a:p>
          <a:p>
            <a:pPr marL="0" indent="0">
              <a:buNone/>
            </a:pPr>
            <a:endParaRPr lang="en-US" sz="1200" b="1" dirty="0" smtClean="0">
              <a:latin typeface="Times New Roman" panose="02020603050405020304" pitchFamily="18" charset="0"/>
              <a:cs typeface="Times New Roman" panose="02020603050405020304" pitchFamily="18" charset="0"/>
            </a:endParaRPr>
          </a:p>
          <a:p>
            <a:pPr marL="0" indent="0">
              <a:buNone/>
            </a:pPr>
            <a:endParaRPr lang="en-US" sz="1200" b="1" dirty="0" smtClean="0">
              <a:latin typeface="Times New Roman" panose="02020603050405020304" pitchFamily="18" charset="0"/>
              <a:cs typeface="Times New Roman" panose="02020603050405020304" pitchFamily="18" charset="0"/>
            </a:endParaRPr>
          </a:p>
          <a:p>
            <a:pPr marL="0" indent="0">
              <a:buNone/>
            </a:pPr>
            <a:endParaRPr lang="en-US" sz="1200" b="1" dirty="0">
              <a:latin typeface="Times New Roman" panose="02020603050405020304" pitchFamily="18" charset="0"/>
              <a:cs typeface="Times New Roman" panose="02020603050405020304" pitchFamily="18" charset="0"/>
            </a:endParaRPr>
          </a:p>
          <a:p>
            <a:pPr marL="0" indent="0">
              <a:buNone/>
            </a:pPr>
            <a:endParaRPr lang="en-US" sz="1200" b="1" dirty="0">
              <a:latin typeface="Times New Roman" panose="02020603050405020304" pitchFamily="18" charset="0"/>
              <a:cs typeface="Times New Roman" panose="02020603050405020304" pitchFamily="18" charset="0"/>
            </a:endParaRPr>
          </a:p>
          <a:p>
            <a:pPr marL="0" indent="0">
              <a:buNone/>
            </a:pPr>
            <a:r>
              <a:rPr lang="en-US" sz="1600" b="1" dirty="0" smtClean="0">
                <a:latin typeface="Times New Roman" panose="02020603050405020304" pitchFamily="18" charset="0"/>
                <a:cs typeface="Times New Roman" panose="02020603050405020304" pitchFamily="18" charset="0"/>
              </a:rPr>
              <a:t>Tools Used:</a:t>
            </a:r>
            <a:endParaRPr lang="en-US" sz="1600" dirty="0" smtClean="0">
              <a:latin typeface="Times New Roman" panose="02020603050405020304" pitchFamily="18" charset="0"/>
              <a:cs typeface="Times New Roman" panose="02020603050405020304" pitchFamily="18" charset="0"/>
            </a:endParaRPr>
          </a:p>
          <a:p>
            <a:r>
              <a:rPr lang="en-US" sz="1600" dirty="0" err="1" smtClean="0">
                <a:latin typeface="Times New Roman" panose="02020603050405020304" pitchFamily="18" charset="0"/>
                <a:cs typeface="Times New Roman" panose="02020603050405020304" pitchFamily="18" charset="0"/>
              </a:rPr>
              <a:t>Streamlit</a:t>
            </a:r>
            <a:endParaRPr lang="en-US" sz="1600" dirty="0" smtClean="0">
              <a:latin typeface="Times New Roman" panose="02020603050405020304" pitchFamily="18" charset="0"/>
              <a:cs typeface="Times New Roman" panose="02020603050405020304" pitchFamily="18" charset="0"/>
            </a:endParaRPr>
          </a:p>
          <a:p>
            <a:r>
              <a:rPr lang="en-US" sz="1600" dirty="0" smtClean="0">
                <a:latin typeface="Times New Roman" panose="02020603050405020304" pitchFamily="18" charset="0"/>
                <a:cs typeface="Times New Roman" panose="02020603050405020304" pitchFamily="18" charset="0"/>
              </a:rPr>
              <a:t>Pandas</a:t>
            </a:r>
          </a:p>
          <a:p>
            <a:r>
              <a:rPr lang="en-US" sz="1600" dirty="0" err="1" smtClean="0">
                <a:latin typeface="Times New Roman" panose="02020603050405020304" pitchFamily="18" charset="0"/>
                <a:cs typeface="Times New Roman" panose="02020603050405020304" pitchFamily="18" charset="0"/>
              </a:rPr>
              <a:t>Scikit</a:t>
            </a:r>
            <a:r>
              <a:rPr lang="en-US" sz="1600" dirty="0" smtClean="0">
                <a:latin typeface="Times New Roman" panose="02020603050405020304" pitchFamily="18" charset="0"/>
                <a:cs typeface="Times New Roman" panose="02020603050405020304" pitchFamily="18" charset="0"/>
              </a:rPr>
              <a:t>-learn</a:t>
            </a:r>
          </a:p>
          <a:p>
            <a:r>
              <a:rPr lang="en-US" sz="1600" dirty="0" err="1" smtClean="0">
                <a:latin typeface="Times New Roman" panose="02020603050405020304" pitchFamily="18" charset="0"/>
                <a:cs typeface="Times New Roman" panose="02020603050405020304" pitchFamily="18" charset="0"/>
              </a:rPr>
              <a:t>Joblib</a:t>
            </a:r>
            <a:endParaRPr lang="en-US" sz="1600" dirty="0">
              <a:latin typeface="Times New Roman" panose="02020603050405020304" pitchFamily="18" charset="0"/>
              <a:cs typeface="Times New Roman" panose="02020603050405020304" pitchFamily="18" charset="0"/>
            </a:endParaRPr>
          </a:p>
        </p:txBody>
      </p:sp>
      <p:sp>
        <p:nvSpPr>
          <p:cNvPr id="6" name="Rectangle 2"/>
          <p:cNvSpPr txBox="1">
            <a:spLocks noChangeArrowheads="1"/>
          </p:cNvSpPr>
          <p:nvPr/>
        </p:nvSpPr>
        <p:spPr bwMode="auto">
          <a:xfrm>
            <a:off x="6016691" y="1441891"/>
            <a:ext cx="7182505" cy="2395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dirty="0" smtClean="0">
                <a:latin typeface="Times New Roman" panose="02020603050405020304" pitchFamily="18" charset="0"/>
                <a:cs typeface="Times New Roman" panose="02020603050405020304" pitchFamily="18" charset="0"/>
              </a:rPr>
              <a:t>2. Bulk Prediction via CSV Upload</a:t>
            </a:r>
          </a:p>
          <a:p>
            <a:pPr marL="0" indent="0">
              <a:buFont typeface="Arial" panose="020B0604020202020204" pitchFamily="34" charset="0"/>
              <a:buNone/>
            </a:pPr>
            <a:r>
              <a:rPr lang="en-US" sz="1600" dirty="0" smtClean="0">
                <a:latin typeface="Times New Roman" panose="02020603050405020304" pitchFamily="18" charset="0"/>
                <a:cs typeface="Times New Roman" panose="02020603050405020304" pitchFamily="18" charset="0"/>
              </a:rPr>
              <a:t>User uploads a CSV file with multiple transactions</a:t>
            </a:r>
          </a:p>
          <a:p>
            <a:pPr marL="0" indent="0">
              <a:buFont typeface="Arial" panose="020B0604020202020204" pitchFamily="34" charset="0"/>
              <a:buNone/>
            </a:pPr>
            <a:r>
              <a:rPr lang="en-US" sz="1600" dirty="0" smtClean="0">
                <a:latin typeface="Times New Roman" panose="02020603050405020304" pitchFamily="18" charset="0"/>
                <a:cs typeface="Times New Roman" panose="02020603050405020304" pitchFamily="18" charset="0"/>
              </a:rPr>
              <a:t>App automatically:</a:t>
            </a:r>
          </a:p>
          <a:p>
            <a:pPr lvl="1"/>
            <a:r>
              <a:rPr lang="en-US" sz="1400" dirty="0" smtClean="0">
                <a:latin typeface="Times New Roman" panose="02020603050405020304" pitchFamily="18" charset="0"/>
                <a:cs typeface="Times New Roman" panose="02020603050405020304" pitchFamily="18" charset="0"/>
              </a:rPr>
              <a:t>Reads the file</a:t>
            </a:r>
          </a:p>
          <a:p>
            <a:pPr lvl="1"/>
            <a:r>
              <a:rPr lang="en-US" sz="1400" dirty="0" smtClean="0">
                <a:latin typeface="Times New Roman" panose="02020603050405020304" pitchFamily="18" charset="0"/>
                <a:cs typeface="Times New Roman" panose="02020603050405020304" pitchFamily="18" charset="0"/>
              </a:rPr>
              <a:t>Preprocesses columns</a:t>
            </a:r>
          </a:p>
          <a:p>
            <a:pPr lvl="1"/>
            <a:r>
              <a:rPr lang="en-US" sz="1400" dirty="0" smtClean="0">
                <a:latin typeface="Times New Roman" panose="02020603050405020304" pitchFamily="18" charset="0"/>
                <a:cs typeface="Times New Roman" panose="02020603050405020304" pitchFamily="18" charset="0"/>
              </a:rPr>
              <a:t>Applies scaling</a:t>
            </a:r>
          </a:p>
          <a:p>
            <a:pPr lvl="1"/>
            <a:r>
              <a:rPr lang="en-US" sz="1400" dirty="0" smtClean="0">
                <a:latin typeface="Times New Roman" panose="02020603050405020304" pitchFamily="18" charset="0"/>
                <a:cs typeface="Times New Roman" panose="02020603050405020304" pitchFamily="18" charset="0"/>
              </a:rPr>
              <a:t>Generates fraud predictions for all rows</a:t>
            </a:r>
          </a:p>
          <a:p>
            <a:r>
              <a:rPr lang="en-US" sz="1600" dirty="0" smtClean="0">
                <a:latin typeface="Times New Roman" panose="02020603050405020304" pitchFamily="18" charset="0"/>
                <a:cs typeface="Times New Roman" panose="02020603050405020304" pitchFamily="18" charset="0"/>
              </a:rPr>
              <a:t>Output: downloadable CSV with predictions</a:t>
            </a:r>
          </a:p>
        </p:txBody>
      </p:sp>
    </p:spTree>
    <p:extLst>
      <p:ext uri="{BB962C8B-B14F-4D97-AF65-F5344CB8AC3E}">
        <p14:creationId xmlns:p14="http://schemas.microsoft.com/office/powerpoint/2010/main" val="6387758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238487" y="2122444"/>
            <a:ext cx="8493580" cy="4289931"/>
          </a:xfrm>
          <a:prstGeom prst="rect">
            <a:avLst/>
          </a:prstGeom>
        </p:spPr>
      </p:pic>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err="1">
                <a:latin typeface="Imprint MT Shadow" panose="04020605060303030202" pitchFamily="82" charset="0"/>
              </a:rPr>
              <a:t>Streamlit</a:t>
            </a:r>
            <a:r>
              <a:rPr lang="en-US" dirty="0">
                <a:latin typeface="Imprint MT Shadow" panose="04020605060303030202" pitchFamily="82" charset="0"/>
              </a:rPr>
              <a:t> App Workflow</a:t>
            </a:r>
            <a:endParaRPr lang="en-US" dirty="0">
              <a:latin typeface="Imprint MT Shadow" panose="04020605060303030202" pitchFamily="82" charset="0"/>
            </a:endParaRPr>
          </a:p>
        </p:txBody>
      </p:sp>
      <p:sp>
        <p:nvSpPr>
          <p:cNvPr id="5" name="Rectangle 2"/>
          <p:cNvSpPr>
            <a:spLocks noGrp="1" noChangeArrowheads="1"/>
          </p:cNvSpPr>
          <p:nvPr>
            <p:ph idx="1"/>
          </p:nvPr>
        </p:nvSpPr>
        <p:spPr bwMode="auto">
          <a:xfrm>
            <a:off x="678884" y="1377570"/>
            <a:ext cx="10406473" cy="150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dirty="0"/>
              <a:t>Mode 1: Manual Single </a:t>
            </a:r>
            <a:r>
              <a:rPr lang="en-US" sz="2000" b="1" dirty="0" smtClean="0"/>
              <a:t>Prediction</a:t>
            </a:r>
            <a:endParaRPr lang="en-US" sz="2000" b="1" dirty="0"/>
          </a:p>
          <a:p>
            <a:pPr marL="0" indent="0">
              <a:buNone/>
            </a:pPr>
            <a:r>
              <a:rPr lang="en-US" sz="1800" dirty="0">
                <a:latin typeface="Times New Roman" panose="02020603050405020304" pitchFamily="18" charset="0"/>
                <a:cs typeface="Times New Roman" panose="02020603050405020304" pitchFamily="18" charset="0"/>
              </a:rPr>
              <a:t>	User Inputs → Preprocessing → Random Forest Model → Fraud Result</a:t>
            </a:r>
          </a:p>
          <a:p>
            <a:pPr marL="0" indent="0">
              <a:buNone/>
            </a:pPr>
            <a:endParaRPr lang="en-US" sz="1800" dirty="0" smtClean="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715213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err="1">
                <a:latin typeface="Imprint MT Shadow" panose="04020605060303030202" pitchFamily="82" charset="0"/>
              </a:rPr>
              <a:t>Streamlit</a:t>
            </a:r>
            <a:r>
              <a:rPr lang="en-US" dirty="0">
                <a:latin typeface="Imprint MT Shadow" panose="04020605060303030202" pitchFamily="82" charset="0"/>
              </a:rPr>
              <a:t> App Workflow</a:t>
            </a:r>
            <a:endParaRPr lang="en-US" dirty="0">
              <a:latin typeface="Imprint MT Shadow" panose="04020605060303030202" pitchFamily="82" charset="0"/>
            </a:endParaRPr>
          </a:p>
        </p:txBody>
      </p:sp>
      <p:sp>
        <p:nvSpPr>
          <p:cNvPr id="5" name="Rectangle 2"/>
          <p:cNvSpPr>
            <a:spLocks noGrp="1" noChangeArrowheads="1"/>
          </p:cNvSpPr>
          <p:nvPr>
            <p:ph idx="1"/>
          </p:nvPr>
        </p:nvSpPr>
        <p:spPr bwMode="auto">
          <a:xfrm>
            <a:off x="678884" y="1216441"/>
            <a:ext cx="10406473" cy="147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endParaRPr lang="en-US" sz="1800" dirty="0" smtClean="0">
              <a:latin typeface="Times New Roman" panose="02020603050405020304" pitchFamily="18" charset="0"/>
              <a:cs typeface="Times New Roman" panose="02020603050405020304" pitchFamily="18" charset="0"/>
            </a:endParaRPr>
          </a:p>
          <a:p>
            <a:pPr marL="0" indent="0">
              <a:buNone/>
            </a:pPr>
            <a:r>
              <a:rPr lang="en-US" sz="1800" dirty="0"/>
              <a:t>Mode 2: CSV </a:t>
            </a:r>
            <a:r>
              <a:rPr lang="en-US" sz="1800" dirty="0" smtClean="0"/>
              <a:t>Upload</a:t>
            </a:r>
          </a:p>
          <a:p>
            <a:pPr marL="0" indent="0">
              <a:buNone/>
            </a:pPr>
            <a:r>
              <a:rPr lang="en-US" sz="1800" dirty="0">
                <a:latin typeface="Times New Roman" panose="02020603050405020304" pitchFamily="18" charset="0"/>
                <a:cs typeface="Times New Roman" panose="02020603050405020304" pitchFamily="18" charset="0"/>
              </a:rPr>
              <a:t>	Upload CSV → Validate Columns → Preprocessing → Batch Prediction → Download Output CSV</a:t>
            </a:r>
          </a:p>
          <a:p>
            <a:pPr marL="0" indent="0">
              <a:buNone/>
            </a:pPr>
            <a:endParaRPr lang="en-US" sz="18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2171222" y="2331193"/>
            <a:ext cx="7612857" cy="3750175"/>
          </a:xfrm>
          <a:prstGeom prst="rect">
            <a:avLst/>
          </a:prstGeom>
        </p:spPr>
      </p:pic>
    </p:spTree>
    <p:extLst>
      <p:ext uri="{BB962C8B-B14F-4D97-AF65-F5344CB8AC3E}">
        <p14:creationId xmlns:p14="http://schemas.microsoft.com/office/powerpoint/2010/main" val="311787178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p:cNvSpPr>
            <a:spLocks noGrp="1"/>
          </p:cNvSpPr>
          <p:nvPr>
            <p:ph type="title"/>
          </p:nvPr>
        </p:nvSpPr>
        <p:spPr>
          <a:xfrm>
            <a:off x="8847306" y="2662581"/>
            <a:ext cx="3200333" cy="1582044"/>
          </a:xfrm>
        </p:spPr>
        <p:txBody>
          <a:bodyPr>
            <a:normAutofit/>
          </a:bodyPr>
          <a:lstStyle/>
          <a:p>
            <a:r>
              <a:rPr lang="en-US" dirty="0" smtClean="0">
                <a:solidFill>
                  <a:schemeClr val="bg1">
                    <a:lumMod val="95000"/>
                  </a:schemeClr>
                </a:solidFill>
                <a:latin typeface="Imprint MT Shadow" panose="04020605060303030202" pitchFamily="82" charset="0"/>
              </a:rPr>
              <a:t>System</a:t>
            </a:r>
            <a:br>
              <a:rPr lang="en-US" dirty="0" smtClean="0">
                <a:solidFill>
                  <a:schemeClr val="bg1">
                    <a:lumMod val="95000"/>
                  </a:schemeClr>
                </a:solidFill>
                <a:latin typeface="Imprint MT Shadow" panose="04020605060303030202" pitchFamily="82" charset="0"/>
              </a:rPr>
            </a:br>
            <a:r>
              <a:rPr lang="en-US" dirty="0" smtClean="0">
                <a:solidFill>
                  <a:schemeClr val="bg1">
                    <a:lumMod val="95000"/>
                  </a:schemeClr>
                </a:solidFill>
                <a:latin typeface="Imprint MT Shadow" panose="04020605060303030202" pitchFamily="82" charset="0"/>
              </a:rPr>
              <a:t>Architecture</a:t>
            </a:r>
            <a:endParaRPr lang="en-US" dirty="0">
              <a:solidFill>
                <a:schemeClr val="bg1">
                  <a:lumMod val="95000"/>
                </a:schemeClr>
              </a:solidFill>
              <a:latin typeface="Imprint MT Shadow" panose="04020605060303030202" pitchFamily="82" charset="0"/>
            </a:endParaRPr>
          </a:p>
        </p:txBody>
      </p:sp>
      <p:sp>
        <p:nvSpPr>
          <p:cNvPr id="5" name="Content Placeholder 4">
            <a:extLst>
              <a:ext uri="{FF2B5EF4-FFF2-40B4-BE49-F238E27FC236}">
                <a16:creationId xmlns:a16="http://schemas.microsoft.com/office/drawing/2014/main" id="{8C74B58E-E923-F7F3-8627-D12DF58EC0C5}"/>
              </a:ext>
            </a:extLst>
          </p:cNvPr>
          <p:cNvSpPr>
            <a:spLocks noGrp="1"/>
          </p:cNvSpPr>
          <p:nvPr>
            <p:ph idx="1"/>
          </p:nvPr>
        </p:nvSpPr>
        <p:spPr>
          <a:xfrm>
            <a:off x="678882" y="1659835"/>
            <a:ext cx="7365892" cy="4398066"/>
          </a:xfrm>
        </p:spPr>
        <p:txBody>
          <a:bodyPr>
            <a:normAutofit/>
          </a:bodyPr>
          <a:lstStyle/>
          <a:p>
            <a:endParaRPr lang="en-IN" dirty="0" smtClean="0"/>
          </a:p>
          <a:p>
            <a:pPr marL="0" indent="0">
              <a:buNone/>
            </a:pPr>
            <a:endParaRPr lang="en-IN" sz="1400" dirty="0" smtClean="0"/>
          </a:p>
          <a:p>
            <a:pPr marL="0" indent="0">
              <a:buNone/>
            </a:pPr>
            <a:r>
              <a:rPr lang="en-IN" sz="1400" dirty="0" smtClean="0"/>
              <a:t>      Manual </a:t>
            </a:r>
            <a:r>
              <a:rPr lang="en-IN" sz="1400" dirty="0"/>
              <a:t>Input </a:t>
            </a:r>
            <a:r>
              <a:rPr lang="en-IN" sz="1400" dirty="0" smtClean="0"/>
              <a:t>Mode</a:t>
            </a:r>
            <a:r>
              <a:rPr lang="en-IN" sz="1400" dirty="0"/>
              <a:t> </a:t>
            </a:r>
            <a:r>
              <a:rPr lang="en-IN" sz="1400" dirty="0" smtClean="0"/>
              <a:t>					CSV </a:t>
            </a:r>
            <a:r>
              <a:rPr lang="en-IN" sz="1400" dirty="0"/>
              <a:t>Upload </a:t>
            </a:r>
            <a:r>
              <a:rPr lang="en-IN" sz="1400" dirty="0" smtClean="0"/>
              <a:t>Mode</a:t>
            </a:r>
            <a:endParaRPr lang="en-IN" sz="1400" dirty="0"/>
          </a:p>
        </p:txBody>
      </p:sp>
      <p:sp>
        <p:nvSpPr>
          <p:cNvPr id="2" name="Rounded Rectangle 1"/>
          <p:cNvSpPr/>
          <p:nvPr/>
        </p:nvSpPr>
        <p:spPr>
          <a:xfrm>
            <a:off x="3052253" y="1630651"/>
            <a:ext cx="1614791" cy="5544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t>User </a:t>
            </a:r>
            <a:r>
              <a:rPr lang="en-IN" sz="1400" dirty="0"/>
              <a:t>UI     </a:t>
            </a:r>
            <a:r>
              <a:rPr lang="en-IN" sz="1400" dirty="0" smtClean="0"/>
              <a:t>(</a:t>
            </a:r>
            <a:r>
              <a:rPr lang="en-IN" sz="1400" dirty="0" err="1" smtClean="0"/>
              <a:t>Streamlit</a:t>
            </a:r>
            <a:r>
              <a:rPr lang="en-IN" sz="1400" dirty="0" smtClean="0"/>
              <a:t> App</a:t>
            </a:r>
            <a:r>
              <a:rPr lang="en-IN" sz="1400" dirty="0"/>
              <a:t>)</a:t>
            </a:r>
            <a:endParaRPr lang="en-US" sz="1400" dirty="0"/>
          </a:p>
        </p:txBody>
      </p:sp>
      <p:sp>
        <p:nvSpPr>
          <p:cNvPr id="3" name="Rounded Rectangle 2"/>
          <p:cNvSpPr/>
          <p:nvPr/>
        </p:nvSpPr>
        <p:spPr>
          <a:xfrm>
            <a:off x="613052" y="2977966"/>
            <a:ext cx="1605064" cy="7393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err="1"/>
              <a:t>Preprocessing</a:t>
            </a:r>
            <a:r>
              <a:rPr lang="en-IN" sz="1200" dirty="0"/>
              <a:t> Pipe</a:t>
            </a:r>
            <a:endParaRPr lang="en-US" sz="1200" dirty="0"/>
          </a:p>
        </p:txBody>
      </p:sp>
      <p:sp>
        <p:nvSpPr>
          <p:cNvPr id="6" name="Rounded Rectangle 5"/>
          <p:cNvSpPr/>
          <p:nvPr/>
        </p:nvSpPr>
        <p:spPr>
          <a:xfrm>
            <a:off x="5786637" y="2961205"/>
            <a:ext cx="1605064" cy="7393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smtClean="0"/>
              <a:t>Batch</a:t>
            </a:r>
          </a:p>
          <a:p>
            <a:pPr algn="ctr"/>
            <a:r>
              <a:rPr lang="en-IN" sz="1200" dirty="0" err="1" smtClean="0"/>
              <a:t>Preprocessing</a:t>
            </a:r>
            <a:r>
              <a:rPr lang="en-IN" sz="1200" dirty="0" smtClean="0"/>
              <a:t> </a:t>
            </a:r>
            <a:r>
              <a:rPr lang="en-IN" sz="1200" dirty="0"/>
              <a:t>Pipe</a:t>
            </a:r>
            <a:endParaRPr lang="en-US" sz="1200" dirty="0"/>
          </a:p>
        </p:txBody>
      </p:sp>
      <p:sp>
        <p:nvSpPr>
          <p:cNvPr id="7" name="Rounded Rectangle 6"/>
          <p:cNvSpPr/>
          <p:nvPr/>
        </p:nvSpPr>
        <p:spPr>
          <a:xfrm>
            <a:off x="5786638" y="4084209"/>
            <a:ext cx="1605064" cy="7393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Random Forest </a:t>
            </a:r>
            <a:r>
              <a:rPr lang="en-IN" sz="1200" dirty="0" smtClean="0"/>
              <a:t>Model </a:t>
            </a:r>
            <a:r>
              <a:rPr lang="en-IN" sz="1200" dirty="0"/>
              <a:t>(Loop)</a:t>
            </a:r>
            <a:endParaRPr lang="en-US" sz="1200" dirty="0"/>
          </a:p>
        </p:txBody>
      </p:sp>
      <p:sp>
        <p:nvSpPr>
          <p:cNvPr id="8" name="Rounded Rectangle 7"/>
          <p:cNvSpPr/>
          <p:nvPr/>
        </p:nvSpPr>
        <p:spPr>
          <a:xfrm>
            <a:off x="607148" y="4095203"/>
            <a:ext cx="1605064" cy="7393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Random Forest </a:t>
            </a:r>
            <a:r>
              <a:rPr lang="en-IN" sz="1200" dirty="0" smtClean="0"/>
              <a:t>Model</a:t>
            </a:r>
            <a:endParaRPr lang="en-US" sz="1200" dirty="0"/>
          </a:p>
        </p:txBody>
      </p:sp>
      <p:sp>
        <p:nvSpPr>
          <p:cNvPr id="9" name="Rounded Rectangle 8"/>
          <p:cNvSpPr/>
          <p:nvPr/>
        </p:nvSpPr>
        <p:spPr>
          <a:xfrm>
            <a:off x="596871" y="5105580"/>
            <a:ext cx="1605064" cy="7393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Fraud Result</a:t>
            </a:r>
            <a:endParaRPr lang="en-US" sz="1200" dirty="0"/>
          </a:p>
        </p:txBody>
      </p:sp>
      <p:sp>
        <p:nvSpPr>
          <p:cNvPr id="10" name="Rounded Rectangle 9"/>
          <p:cNvSpPr/>
          <p:nvPr/>
        </p:nvSpPr>
        <p:spPr>
          <a:xfrm>
            <a:off x="5789632" y="5164012"/>
            <a:ext cx="1605064" cy="7393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dirty="0"/>
              <a:t>Output CSV File</a:t>
            </a:r>
            <a:endParaRPr lang="en-US" sz="1200" dirty="0"/>
          </a:p>
        </p:txBody>
      </p:sp>
      <p:cxnSp>
        <p:nvCxnSpPr>
          <p:cNvPr id="12" name="Straight Connector 11"/>
          <p:cNvCxnSpPr>
            <a:stCxn id="2" idx="2"/>
          </p:cNvCxnSpPr>
          <p:nvPr/>
        </p:nvCxnSpPr>
        <p:spPr>
          <a:xfrm flipH="1">
            <a:off x="3859648" y="2185127"/>
            <a:ext cx="1" cy="27436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1319803" y="2458026"/>
            <a:ext cx="2544925" cy="9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flipV="1">
            <a:off x="3834404" y="2457293"/>
            <a:ext cx="2777633" cy="7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1317490" y="2463643"/>
            <a:ext cx="0" cy="93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6613934" y="2452213"/>
            <a:ext cx="0" cy="93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1317490" y="2662581"/>
            <a:ext cx="0" cy="295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a:off x="1312400" y="3697812"/>
            <a:ext cx="5907" cy="3973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1319803" y="4868571"/>
            <a:ext cx="11508" cy="2467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a:off x="6589169" y="2662581"/>
            <a:ext cx="22868" cy="2986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flipH="1">
            <a:off x="6589170" y="3742716"/>
            <a:ext cx="11433" cy="341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7" idx="2"/>
            <a:endCxn id="10" idx="0"/>
          </p:cNvCxnSpPr>
          <p:nvPr/>
        </p:nvCxnSpPr>
        <p:spPr>
          <a:xfrm>
            <a:off x="6589170" y="4823511"/>
            <a:ext cx="2994" cy="340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43652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latin typeface="Imprint MT Shadow" panose="04020605060303030202" pitchFamily="82" charset="0"/>
              </a:rPr>
              <a:t>Business Impact</a:t>
            </a:r>
            <a:endParaRPr lang="en-US" dirty="0">
              <a:latin typeface="Imprint MT Shadow" panose="04020605060303030202" pitchFamily="82" charset="0"/>
            </a:endParaRPr>
          </a:p>
        </p:txBody>
      </p:sp>
      <p:sp>
        <p:nvSpPr>
          <p:cNvPr id="5" name="Rectangle 2"/>
          <p:cNvSpPr>
            <a:spLocks noGrp="1" noChangeArrowheads="1"/>
          </p:cNvSpPr>
          <p:nvPr>
            <p:ph idx="1"/>
          </p:nvPr>
        </p:nvSpPr>
        <p:spPr bwMode="auto">
          <a:xfrm>
            <a:off x="678884" y="1216441"/>
            <a:ext cx="10406473" cy="4427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sz="2400" b="1" dirty="0" smtClean="0">
                <a:solidFill>
                  <a:schemeClr val="tx1"/>
                </a:solidFill>
                <a:latin typeface="Arial" panose="020B0604020202020204" pitchFamily="34" charset="0"/>
              </a:rPr>
              <a:t>Real-time </a:t>
            </a:r>
            <a:r>
              <a:rPr lang="en-US" altLang="en-US" sz="2400" b="1" dirty="0">
                <a:solidFill>
                  <a:schemeClr val="tx1"/>
                </a:solidFill>
                <a:latin typeface="Arial" panose="020B0604020202020204" pitchFamily="34" charset="0"/>
              </a:rPr>
              <a:t>fraud detection</a:t>
            </a:r>
            <a:endParaRPr lang="en-US" altLang="en-US" sz="2400" dirty="0">
              <a:solidFill>
                <a:schemeClr val="tx1"/>
              </a:solidFill>
              <a:latin typeface="Arial" panose="020B0604020202020204" pitchFamily="34" charset="0"/>
            </a:endParaRPr>
          </a:p>
          <a:p>
            <a:pPr eaLnBrk="0" fontAlgn="base" hangingPunct="0">
              <a:lnSpc>
                <a:spcPct val="100000"/>
              </a:lnSpc>
              <a:spcBef>
                <a:spcPct val="0"/>
              </a:spcBef>
              <a:spcAft>
                <a:spcPct val="0"/>
              </a:spcAft>
            </a:pPr>
            <a:r>
              <a:rPr lang="en-US" altLang="en-US" sz="2400" b="1" dirty="0">
                <a:solidFill>
                  <a:schemeClr val="tx1"/>
                </a:solidFill>
                <a:latin typeface="Arial" panose="020B0604020202020204" pitchFamily="34" charset="0"/>
              </a:rPr>
              <a:t>Reduced financial losses</a:t>
            </a:r>
            <a:endParaRPr lang="en-US" altLang="en-US" sz="2400" dirty="0">
              <a:solidFill>
                <a:schemeClr val="tx1"/>
              </a:solidFill>
              <a:latin typeface="Arial" panose="020B0604020202020204" pitchFamily="34" charset="0"/>
            </a:endParaRPr>
          </a:p>
          <a:p>
            <a:pPr eaLnBrk="0" fontAlgn="base" hangingPunct="0">
              <a:lnSpc>
                <a:spcPct val="100000"/>
              </a:lnSpc>
              <a:spcBef>
                <a:spcPct val="0"/>
              </a:spcBef>
              <a:spcAft>
                <a:spcPct val="0"/>
              </a:spcAft>
            </a:pPr>
            <a:r>
              <a:rPr lang="en-US" altLang="en-US" sz="2400" dirty="0">
                <a:solidFill>
                  <a:schemeClr val="tx1"/>
                </a:solidFill>
                <a:latin typeface="Arial" panose="020B0604020202020204" pitchFamily="34" charset="0"/>
              </a:rPr>
              <a:t>Protects customer accounts</a:t>
            </a:r>
          </a:p>
          <a:p>
            <a:pPr eaLnBrk="0" fontAlgn="base" hangingPunct="0">
              <a:lnSpc>
                <a:spcPct val="100000"/>
              </a:lnSpc>
              <a:spcBef>
                <a:spcPct val="0"/>
              </a:spcBef>
              <a:spcAft>
                <a:spcPct val="0"/>
              </a:spcAft>
            </a:pPr>
            <a:r>
              <a:rPr lang="en-US" altLang="en-US" sz="2400" dirty="0">
                <a:solidFill>
                  <a:schemeClr val="tx1"/>
                </a:solidFill>
                <a:latin typeface="Arial" panose="020B0604020202020204" pitchFamily="34" charset="0"/>
              </a:rPr>
              <a:t>Improves trust in digital payment systems</a:t>
            </a:r>
          </a:p>
          <a:p>
            <a:pPr eaLnBrk="0" fontAlgn="base" hangingPunct="0">
              <a:lnSpc>
                <a:spcPct val="100000"/>
              </a:lnSpc>
              <a:spcBef>
                <a:spcPct val="0"/>
              </a:spcBef>
              <a:spcAft>
                <a:spcPct val="0"/>
              </a:spcAft>
            </a:pPr>
            <a:r>
              <a:rPr lang="en-US" altLang="en-US" sz="2400" dirty="0">
                <a:solidFill>
                  <a:schemeClr val="tx1"/>
                </a:solidFill>
                <a:latin typeface="Arial" panose="020B0604020202020204" pitchFamily="34" charset="0"/>
              </a:rPr>
              <a:t>Helps financial institutions meet compliance standards</a:t>
            </a:r>
          </a:p>
          <a:p>
            <a:pPr marL="0" indent="0">
              <a:buNone/>
            </a:pPr>
            <a:endParaRPr lang="en-US" sz="2400" dirty="0"/>
          </a:p>
          <a:p>
            <a:pPr marL="0" indent="0">
              <a:buNone/>
            </a:pPr>
            <a:r>
              <a:rPr lang="en-US" sz="2400" dirty="0" smtClean="0"/>
              <a:t>Add </a:t>
            </a:r>
            <a:r>
              <a:rPr lang="en-US" sz="2400" dirty="0"/>
              <a:t>the CSV-upload advantages:</a:t>
            </a:r>
          </a:p>
          <a:p>
            <a:pPr lvl="1"/>
            <a:r>
              <a:rPr lang="en-US" sz="1800" dirty="0" smtClean="0"/>
              <a:t>Enables </a:t>
            </a:r>
            <a:r>
              <a:rPr lang="en-US" sz="1800" b="1" dirty="0"/>
              <a:t>processing thousands of transactions at once</a:t>
            </a:r>
            <a:endParaRPr lang="en-US" sz="1800" dirty="0"/>
          </a:p>
          <a:p>
            <a:pPr lvl="1"/>
            <a:r>
              <a:rPr lang="en-US" sz="1800" dirty="0"/>
              <a:t>Allows banks/</a:t>
            </a:r>
            <a:r>
              <a:rPr lang="en-US" sz="1800" dirty="0" err="1"/>
              <a:t>fintechs</a:t>
            </a:r>
            <a:r>
              <a:rPr lang="en-US" sz="1800" dirty="0"/>
              <a:t> to upload daily logs</a:t>
            </a:r>
          </a:p>
          <a:p>
            <a:pPr lvl="1"/>
            <a:r>
              <a:rPr lang="en-US" sz="1800" dirty="0"/>
              <a:t>Improves operational efficiency</a:t>
            </a:r>
          </a:p>
          <a:p>
            <a:pPr lvl="1"/>
            <a:r>
              <a:rPr lang="en-US" sz="1800" dirty="0"/>
              <a:t>Supports real-world batch fraud detection </a:t>
            </a:r>
            <a:r>
              <a:rPr lang="en-US" sz="1800" dirty="0" smtClean="0"/>
              <a:t>workflows</a:t>
            </a:r>
          </a:p>
          <a:p>
            <a:pPr lvl="1"/>
            <a:r>
              <a:rPr lang="en-US" altLang="en-US" sz="1800" dirty="0">
                <a:solidFill>
                  <a:schemeClr val="tx1"/>
                </a:solidFill>
                <a:latin typeface="Arial" panose="020B0604020202020204" pitchFamily="34" charset="0"/>
              </a:rPr>
              <a:t>Can scale to millions of transactions per </a:t>
            </a:r>
            <a:r>
              <a:rPr lang="en-US" altLang="en-US" sz="1800" dirty="0" smtClean="0">
                <a:solidFill>
                  <a:schemeClr val="tx1"/>
                </a:solidFill>
                <a:latin typeface="Arial" panose="020B0604020202020204" pitchFamily="34" charset="0"/>
              </a:rPr>
              <a:t>day</a:t>
            </a:r>
            <a:endParaRPr lang="en-US" sz="1800" dirty="0" smtClean="0"/>
          </a:p>
        </p:txBody>
      </p:sp>
    </p:spTree>
    <p:extLst>
      <p:ext uri="{BB962C8B-B14F-4D97-AF65-F5344CB8AC3E}">
        <p14:creationId xmlns:p14="http://schemas.microsoft.com/office/powerpoint/2010/main" val="280475590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r>
              <a:rPr lang="en-IN" dirty="0"/>
              <a:t/>
            </a:r>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timing>
    <p:tnLst>
      <p:par>
        <p:cTn id="1" dur="indefinite" restart="never" nodeType="tmRoot"/>
      </p:par>
    </p:tnLst>
  </p:timing>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10635</TotalTime>
  <Words>728</Words>
  <Application>Microsoft Office PowerPoint</Application>
  <PresentationFormat>Widescreen</PresentationFormat>
  <Paragraphs>186</Paragraphs>
  <Slides>22</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Algerian</vt:lpstr>
      <vt:lpstr>Arial</vt:lpstr>
      <vt:lpstr>Arial Unicode MS</vt:lpstr>
      <vt:lpstr>Bahnschrift</vt:lpstr>
      <vt:lpstr>Calibri</vt:lpstr>
      <vt:lpstr>Imprint MT Shadow</vt:lpstr>
      <vt:lpstr>Roboto</vt:lpstr>
      <vt:lpstr>Segoe UI Semibold</vt:lpstr>
      <vt:lpstr>Times New Roman</vt:lpstr>
      <vt:lpstr>BIA Template</vt:lpstr>
      <vt:lpstr>PowerPoint Presentation</vt:lpstr>
      <vt:lpstr>TABLE OF CONTENTS</vt:lpstr>
      <vt:lpstr>Project Overview</vt:lpstr>
      <vt:lpstr>Dataset Description</vt:lpstr>
      <vt:lpstr>Fraud Data Characteristics</vt:lpstr>
      <vt:lpstr>PowerPoint Presentation</vt:lpstr>
      <vt:lpstr>Exploratory Data Analysis (EDA)</vt:lpstr>
      <vt:lpstr>Preprocessing Steps</vt:lpstr>
      <vt:lpstr>Feature Engineering Summary</vt:lpstr>
      <vt:lpstr>Models Evaluated</vt:lpstr>
      <vt:lpstr>PowerPoint Presentation</vt:lpstr>
      <vt:lpstr>PowerPoint Presentation</vt:lpstr>
      <vt:lpstr>Best Model: Random Forest</vt:lpstr>
      <vt:lpstr>Model Performance Metrics</vt:lpstr>
      <vt:lpstr>Deployment Overview</vt:lpstr>
      <vt:lpstr>Deployment Overview</vt:lpstr>
      <vt:lpstr>Streamlit App Workflow</vt:lpstr>
      <vt:lpstr>Streamlit App Workflow</vt:lpstr>
      <vt:lpstr>System Architecture</vt:lpstr>
      <vt:lpstr>Business Impact</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PC</cp:lastModifiedBy>
  <cp:revision>2271</cp:revision>
  <dcterms:created xsi:type="dcterms:W3CDTF">2020-12-23T13:36:00Z</dcterms:created>
  <dcterms:modified xsi:type="dcterms:W3CDTF">2025-11-26T04:55:27Z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